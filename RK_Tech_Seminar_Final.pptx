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8" r:id="rId5"/>
    <p:sldId id="276" r:id="rId6"/>
    <p:sldId id="261" r:id="rId7"/>
    <p:sldId id="277" r:id="rId8"/>
    <p:sldId id="262" r:id="rId9"/>
    <p:sldId id="278" r:id="rId10"/>
    <p:sldId id="270" r:id="rId11"/>
    <p:sldId id="269" r:id="rId12"/>
    <p:sldId id="271" r:id="rId13"/>
    <p:sldId id="264" r:id="rId14"/>
    <p:sldId id="275" r:id="rId15"/>
    <p:sldId id="273" r:id="rId16"/>
    <p:sldId id="265" r:id="rId17"/>
    <p:sldId id="274" r:id="rId18"/>
    <p:sldId id="266"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4518AE-C641-4957-BD6C-8A1B9C4B16B7}" v="151" dt="2026-05-22T19:06:59.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105" d="100"/>
          <a:sy n="105" d="100"/>
        </p:scale>
        <p:origin x="23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A0D48-EC37-462A-9D1A-0CE89B8D53DE}" type="datetimeFigureOut">
              <a:rPr lang="en-IN" smtClean="0"/>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83A865-8391-4C27-B9DE-92248C8131AB}" type="slidenum">
              <a:rPr lang="en-IN" smtClean="0"/>
              <a:t>‹#›</a:t>
            </a:fld>
            <a:endParaRPr lang="en-IN"/>
          </a:p>
        </p:txBody>
      </p:sp>
    </p:spTree>
    <p:extLst>
      <p:ext uri="{BB962C8B-B14F-4D97-AF65-F5344CB8AC3E}">
        <p14:creationId xmlns:p14="http://schemas.microsoft.com/office/powerpoint/2010/main" val="4159533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262300F-38CC-449B-A7A9-D60F53B164D3}" type="datetime1">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3364604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32611-DD4C-4620-BABB-D54AAD220BDD}" type="datetime1">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632260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04CDF08-B831-4D7D-8F2E-70220F71028A}" type="datetime1">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2106164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235D171-02E8-4546-BA9D-6EC8E2F86165}" type="datetime1">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2111769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1F4A057-BE46-4290-9A22-729514A6CA1F}" type="datetime1">
              <a:rPr lang="en-IN" smtClean="0"/>
              <a:t>22-05-2026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3311253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201AFA4-D799-41CE-819F-4658A62ABC6B}" type="datetime1">
              <a:rPr lang="en-IN" smtClean="0"/>
              <a:t>22-05-2026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165153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C45A-AC76-46D7-B721-A60300F0ADD1}" type="datetime1">
              <a:rPr lang="en-IN" smtClean="0"/>
              <a:t>22-05-2026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101616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46149A1-375F-41EB-9771-4FB65EB35DCF}" type="datetime1">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1758516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0FC11D5-85C3-4E58-B81E-8B667C909A2E}" type="datetime1">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842875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34D342-C372-4593-BE6C-B0F65FB5DE29}" type="datetime1">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363903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5D7DED-A424-4759-A5EF-3A2B5CABD579}" type="datetime1">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192726-063F-4B8D-A6E6-A84087823C18}" type="slidenum">
              <a:rPr lang="en-IN" smtClean="0"/>
              <a:t>‹#›</a:t>
            </a:fld>
            <a:endParaRPr lang="en-IN"/>
          </a:p>
        </p:txBody>
      </p:sp>
    </p:spTree>
    <p:extLst>
      <p:ext uri="{BB962C8B-B14F-4D97-AF65-F5344CB8AC3E}">
        <p14:creationId xmlns:p14="http://schemas.microsoft.com/office/powerpoint/2010/main" val="419182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64181E-0D66-4DB6-B0D7-A527DEB9BF1C}" type="datetime1">
              <a:rPr lang="en-IN" smtClean="0"/>
              <a:t>22-05-2026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192726-063F-4B8D-A6E6-A84087823C18}" type="slidenum">
              <a:rPr lang="en-IN" smtClean="0"/>
              <a:t>‹#›</a:t>
            </a:fld>
            <a:endParaRPr lang="en-IN"/>
          </a:p>
        </p:txBody>
      </p:sp>
    </p:spTree>
    <p:extLst>
      <p:ext uri="{BB962C8B-B14F-4D97-AF65-F5344CB8AC3E}">
        <p14:creationId xmlns:p14="http://schemas.microsoft.com/office/powerpoint/2010/main" val="2831568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5000">
              <a:schemeClr val="accent1">
                <a:lumMod val="20000"/>
                <a:lumOff val="80000"/>
              </a:schemeClr>
            </a:gs>
            <a:gs pos="70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65816" y="2817083"/>
            <a:ext cx="9524104" cy="3539267"/>
          </a:xfrm>
        </p:spPr>
        <p:txBody>
          <a:bodyPr>
            <a:normAutofit/>
          </a:bodyPr>
          <a:lstStyle/>
          <a:p>
            <a:r>
              <a:rPr lang="en-US" sz="2000" b="1" dirty="0">
                <a:latin typeface="Times New Roman" panose="02020603050405020304" pitchFamily="18" charset="0"/>
                <a:cs typeface="Times New Roman" panose="02020603050405020304" pitchFamily="18" charset="0"/>
              </a:rPr>
              <a:t>By</a:t>
            </a:r>
          </a:p>
          <a:p>
            <a:r>
              <a:rPr lang="en-US" b="1" dirty="0">
                <a:latin typeface="Times New Roman" panose="02020603050405020304" pitchFamily="18" charset="0"/>
                <a:cs typeface="Times New Roman" panose="02020603050405020304" pitchFamily="18" charset="0"/>
              </a:rPr>
              <a:t>Rohit Kulkarni</a:t>
            </a:r>
          </a:p>
          <a:p>
            <a:r>
              <a:rPr lang="en-US" b="1" dirty="0">
                <a:latin typeface="Times New Roman" panose="02020603050405020304" pitchFamily="18" charset="0"/>
                <a:cs typeface="Times New Roman" panose="02020603050405020304" pitchFamily="18" charset="0"/>
              </a:rPr>
              <a:t>1MS24MC087</a:t>
            </a:r>
          </a:p>
          <a:p>
            <a:endParaRPr lang="en-US"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Under the Guidance of</a:t>
            </a:r>
          </a:p>
          <a:p>
            <a:r>
              <a:rPr lang="en-US" b="1" dirty="0">
                <a:latin typeface="Times New Roman" panose="02020603050405020304" pitchFamily="18" charset="0"/>
                <a:cs typeface="Times New Roman" panose="02020603050405020304" pitchFamily="18" charset="0"/>
              </a:rPr>
              <a:t>Dr. Shazia Mannan</a:t>
            </a:r>
          </a:p>
          <a:p>
            <a:r>
              <a:rPr lang="en-US" sz="1600" b="1" dirty="0">
                <a:latin typeface="Times New Roman" panose="02020603050405020304" pitchFamily="18" charset="0"/>
                <a:cs typeface="Times New Roman" panose="02020603050405020304" pitchFamily="18" charset="0"/>
              </a:rPr>
              <a:t>Assistant Professor</a:t>
            </a:r>
          </a:p>
        </p:txBody>
      </p:sp>
      <p:pic>
        <p:nvPicPr>
          <p:cNvPr id="4" name="Picture 3">
            <a:extLst>
              <a:ext uri="{FF2B5EF4-FFF2-40B4-BE49-F238E27FC236}">
                <a16:creationId xmlns:a16="http://schemas.microsoft.com/office/drawing/2014/main" id="{E1965D42-148A-7819-5DF2-B66C696D314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6166" y="0"/>
            <a:ext cx="2269676" cy="936460"/>
          </a:xfrm>
          <a:prstGeom prst="rect">
            <a:avLst/>
          </a:prstGeom>
        </p:spPr>
      </p:pic>
      <p:sp>
        <p:nvSpPr>
          <p:cNvPr id="5" name="Text Box 2"/>
          <p:cNvSpPr txBox="1">
            <a:spLocks noGrp="1" noChangeArrowheads="1"/>
          </p:cNvSpPr>
          <p:nvPr>
            <p:ph type="ctrTitle"/>
          </p:nvPr>
        </p:nvSpPr>
        <p:spPr bwMode="auto">
          <a:xfrm>
            <a:off x="2623458" y="284225"/>
            <a:ext cx="6706560" cy="424732"/>
          </a:xfrm>
          <a:prstGeom prst="rect">
            <a:avLst/>
          </a:prstGeom>
          <a:noFill/>
          <a:ln w="9525">
            <a:noFill/>
            <a:miter lim="800000"/>
            <a:headEnd/>
            <a:tailEnd/>
          </a:ln>
        </p:spPr>
        <p:txBody>
          <a:bodyPr rot="0" vert="horz" wrap="square" lIns="91440" tIns="45720" rIns="91440" bIns="45720" anchor="t" anchorCtr="0">
            <a:spAutoFit/>
          </a:bodyPr>
          <a:lstStyle/>
          <a:p>
            <a:pPr algn="ctr"/>
            <a:r>
              <a:rPr lang="en-US" sz="2400" b="1" dirty="0">
                <a:effectLst/>
                <a:latin typeface="Times New Roman" panose="02020603050405020304" pitchFamily="18" charset="0"/>
                <a:ea typeface="Times New Roman" panose="02020603050405020304" pitchFamily="18" charset="0"/>
              </a:rPr>
              <a:t>Department </a:t>
            </a:r>
            <a:r>
              <a:rPr lang="en-US" sz="2400" b="1" dirty="0">
                <a:latin typeface="Times New Roman" panose="02020603050405020304" pitchFamily="18" charset="0"/>
                <a:ea typeface="Times New Roman" panose="02020603050405020304" pitchFamily="18" charset="0"/>
              </a:rPr>
              <a:t>of Master of Computer Applications</a:t>
            </a:r>
            <a:endParaRPr lang="en-US" sz="2400" b="1" dirty="0">
              <a:effectLst/>
              <a:latin typeface="Times New Roman" panose="02020603050405020304" pitchFamily="18" charset="0"/>
              <a:ea typeface="Times New Roman" panose="02020603050405020304" pitchFamily="18" charset="0"/>
            </a:endParaRPr>
          </a:p>
        </p:txBody>
      </p:sp>
      <p:sp>
        <p:nvSpPr>
          <p:cNvPr id="6" name="Rectangle 5"/>
          <p:cNvSpPr/>
          <p:nvPr/>
        </p:nvSpPr>
        <p:spPr>
          <a:xfrm>
            <a:off x="497541" y="1492051"/>
            <a:ext cx="11497235" cy="769441"/>
          </a:xfrm>
          <a:prstGeom prst="rect">
            <a:avLst/>
          </a:prstGeom>
        </p:spPr>
        <p:txBody>
          <a:bodyPr wrap="square">
            <a:spAutoFit/>
          </a:bodyPr>
          <a:lstStyle/>
          <a:p>
            <a:pPr algn="ctr"/>
            <a:r>
              <a:rPr lang="en-US" sz="4400" b="1" dirty="0">
                <a:latin typeface="Times New Roman" panose="02020603050405020304" pitchFamily="18" charset="0"/>
                <a:cs typeface="Times New Roman" panose="02020603050405020304" pitchFamily="18" charset="0"/>
              </a:rPr>
              <a:t>Common Phishing Attacks and Prevention</a:t>
            </a:r>
          </a:p>
        </p:txBody>
      </p:sp>
      <p:sp>
        <p:nvSpPr>
          <p:cNvPr id="7" name="Date Placeholder 6"/>
          <p:cNvSpPr>
            <a:spLocks noGrp="1"/>
          </p:cNvSpPr>
          <p:nvPr>
            <p:ph type="dt" sz="half" idx="10"/>
          </p:nvPr>
        </p:nvSpPr>
        <p:spPr/>
        <p:txBody>
          <a:bodyPr/>
          <a:lstStyle/>
          <a:p>
            <a:r>
              <a:rPr lang="en-IN" dirty="0"/>
              <a:t>23-05-2026</a:t>
            </a:r>
          </a:p>
        </p:txBody>
      </p:sp>
      <p:sp>
        <p:nvSpPr>
          <p:cNvPr id="9" name="Slide Number Placeholder 8"/>
          <p:cNvSpPr>
            <a:spLocks noGrp="1"/>
          </p:cNvSpPr>
          <p:nvPr>
            <p:ph type="sldNum" sz="quarter" idx="12"/>
          </p:nvPr>
        </p:nvSpPr>
        <p:spPr/>
        <p:txBody>
          <a:bodyPr/>
          <a:lstStyle/>
          <a:p>
            <a:fld id="{EB192726-063F-4B8D-A6E6-A84087823C18}" type="slidenum">
              <a:rPr lang="en-IN" smtClean="0"/>
              <a:t>1</a:t>
            </a:fld>
            <a:endParaRPr lang="en-IN"/>
          </a:p>
        </p:txBody>
      </p:sp>
    </p:spTree>
    <p:extLst>
      <p:ext uri="{BB962C8B-B14F-4D97-AF65-F5344CB8AC3E}">
        <p14:creationId xmlns:p14="http://schemas.microsoft.com/office/powerpoint/2010/main" val="3033883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802" y="670633"/>
            <a:ext cx="11490063" cy="706346"/>
          </a:xfrm>
        </p:spPr>
        <p:txBody>
          <a:bodyPr>
            <a:normAutofit/>
          </a:bodyPr>
          <a:lstStyle/>
          <a:p>
            <a:r>
              <a:rPr lang="en-US" sz="4000" b="1" dirty="0">
                <a:latin typeface="Times New Roman" panose="02020603050405020304" pitchFamily="18" charset="0"/>
                <a:cs typeface="Times New Roman" panose="02020603050405020304" pitchFamily="18" charset="0"/>
              </a:rPr>
              <a:t>Agenda</a:t>
            </a:r>
            <a:endParaRPr lang="en-IN" sz="4000" b="1" dirty="0"/>
          </a:p>
        </p:txBody>
      </p:sp>
      <p:sp>
        <p:nvSpPr>
          <p:cNvPr id="3" name="Content Placeholder 2"/>
          <p:cNvSpPr>
            <a:spLocks noGrp="1"/>
          </p:cNvSpPr>
          <p:nvPr>
            <p:ph idx="1"/>
          </p:nvPr>
        </p:nvSpPr>
        <p:spPr>
          <a:xfrm>
            <a:off x="693867" y="1750133"/>
            <a:ext cx="11074998" cy="4788779"/>
          </a:xfrm>
        </p:spPr>
        <p:txBody>
          <a:bodyPr>
            <a:normAutofit/>
          </a:bodyPr>
          <a:lstStyle/>
          <a:p>
            <a:r>
              <a:rPr lang="en-US" sz="2400" dirty="0">
                <a:latin typeface="Times New Roman" panose="02020603050405020304" pitchFamily="18" charset="0"/>
                <a:cs typeface="Times New Roman" panose="02020603050405020304" pitchFamily="18" charset="0"/>
              </a:rPr>
              <a:t>Introduction</a:t>
            </a:r>
          </a:p>
          <a:p>
            <a:r>
              <a:rPr lang="en-US" sz="2400" dirty="0">
                <a:latin typeface="Times New Roman" panose="02020603050405020304" pitchFamily="18" charset="0"/>
                <a:cs typeface="Times New Roman" panose="02020603050405020304" pitchFamily="18" charset="0"/>
              </a:rPr>
              <a:t>Social Impact</a:t>
            </a:r>
          </a:p>
          <a:p>
            <a:r>
              <a:rPr lang="en-US" sz="2400" dirty="0">
                <a:latin typeface="Times New Roman" panose="02020603050405020304" pitchFamily="18" charset="0"/>
                <a:cs typeface="Times New Roman" panose="02020603050405020304" pitchFamily="18" charset="0"/>
              </a:rPr>
              <a:t>Implementation</a:t>
            </a:r>
          </a:p>
          <a:p>
            <a:r>
              <a:rPr lang="en-US" sz="2400" dirty="0">
                <a:latin typeface="Times New Roman" panose="02020603050405020304" pitchFamily="18" charset="0"/>
                <a:cs typeface="Times New Roman" panose="02020603050405020304" pitchFamily="18" charset="0"/>
              </a:rPr>
              <a:t>Impact of Credential Theft</a:t>
            </a:r>
          </a:p>
          <a:p>
            <a:r>
              <a:rPr lang="en-US" sz="2400" dirty="0">
                <a:latin typeface="Times New Roman" panose="02020603050405020304" pitchFamily="18" charset="0"/>
                <a:cs typeface="Times New Roman" panose="02020603050405020304" pitchFamily="18" charset="0"/>
              </a:rPr>
              <a:t>Prevention Techniques </a:t>
            </a:r>
          </a:p>
          <a:p>
            <a:r>
              <a:rPr lang="en-US" sz="2400" dirty="0">
                <a:latin typeface="Times New Roman" panose="02020603050405020304" pitchFamily="18" charset="0"/>
                <a:cs typeface="Times New Roman" panose="02020603050405020304" pitchFamily="18" charset="0"/>
              </a:rPr>
              <a:t>Best Security Practices</a:t>
            </a:r>
          </a:p>
          <a:p>
            <a:r>
              <a:rPr lang="en-US" sz="2400" dirty="0">
                <a:latin typeface="Times New Roman" panose="02020603050405020304" pitchFamily="18" charset="0"/>
                <a:cs typeface="Times New Roman" panose="02020603050405020304" pitchFamily="18" charset="0"/>
              </a:rPr>
              <a:t>Conclusion</a:t>
            </a:r>
          </a:p>
          <a:p>
            <a:r>
              <a:rPr lang="en-US" sz="240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2</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718601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endParaRPr lang="en-IN" b="1" dirty="0"/>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3</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9" name="TextBox 8">
            <a:extLst>
              <a:ext uri="{FF2B5EF4-FFF2-40B4-BE49-F238E27FC236}">
                <a16:creationId xmlns:a16="http://schemas.microsoft.com/office/drawing/2014/main" id="{264AED68-8DF0-D2EE-F477-D67A238071C2}"/>
              </a:ext>
            </a:extLst>
          </p:cNvPr>
          <p:cNvSpPr txBox="1"/>
          <p:nvPr/>
        </p:nvSpPr>
        <p:spPr>
          <a:xfrm>
            <a:off x="667512" y="1581912"/>
            <a:ext cx="184731" cy="369332"/>
          </a:xfrm>
          <a:prstGeom prst="rect">
            <a:avLst/>
          </a:prstGeom>
          <a:noFill/>
        </p:spPr>
        <p:txBody>
          <a:bodyPr wrap="none" rtlCol="0">
            <a:spAutoFit/>
          </a:bodyPr>
          <a:lstStyle/>
          <a:p>
            <a:endParaRPr lang="LID4096" dirty="0"/>
          </a:p>
        </p:txBody>
      </p:sp>
      <p:sp>
        <p:nvSpPr>
          <p:cNvPr id="10" name="Rectangle 2">
            <a:extLst>
              <a:ext uri="{FF2B5EF4-FFF2-40B4-BE49-F238E27FC236}">
                <a16:creationId xmlns:a16="http://schemas.microsoft.com/office/drawing/2014/main" id="{B18CEB38-FCDE-D687-E419-255B8F3F66CF}"/>
              </a:ext>
            </a:extLst>
          </p:cNvPr>
          <p:cNvSpPr>
            <a:spLocks noGrp="1" noChangeArrowheads="1"/>
          </p:cNvSpPr>
          <p:nvPr>
            <p:ph idx="1"/>
          </p:nvPr>
        </p:nvSpPr>
        <p:spPr bwMode="auto">
          <a:xfrm>
            <a:off x="236668" y="1075305"/>
            <a:ext cx="10992164"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IN" altLang="LID4096"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IN" altLang="LID4096" sz="2000" b="1" dirty="0">
                <a:latin typeface="Times New Roman" panose="02020603050405020304" pitchFamily="18" charset="0"/>
                <a:cs typeface="Times New Roman" panose="02020603050405020304" pitchFamily="18" charset="0"/>
              </a:rPr>
              <a:t>Phishing:</a:t>
            </a:r>
          </a:p>
          <a:p>
            <a:pPr marL="0" marR="0" lvl="0" indent="0" algn="l" defTabSz="914400" rtl="0" eaLnBrk="0" fontAlgn="base" latinLnBrk="0" hangingPunct="0">
              <a:lnSpc>
                <a:spcPct val="150000"/>
              </a:lnSpc>
              <a:spcBef>
                <a:spcPct val="0"/>
              </a:spcBef>
              <a:spcAft>
                <a:spcPct val="0"/>
              </a:spcAft>
              <a:buClrTx/>
              <a:buSzTx/>
              <a:buFontTx/>
              <a:buNone/>
              <a:tabLst/>
            </a:pPr>
            <a:endParaRPr lang="en-IN" altLang="LID4096" sz="1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IN"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Phishing is a type of cyberattack in which attackers deceive users into revealing sensitive information such as usernames, passwords, OTPs, banking details, and social media credentials. These attacks are commonly carried out through fake emails, fraudulent websites, SMS messages, or social media platforms that appear legitimate to the victim. Phishing attacks mainly rely on social engineering techniques, where attackers manipulate human trust, fear, curiosity, or urgency to trick users into taking harmful actions. According to various cybersecurity reports, phishing remains one of the leading causes of account compromise and data theft worldwide.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LID4096"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60E39B5A-68A1-C12A-9231-FD4ED103FC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1929" y="320829"/>
            <a:ext cx="2396804" cy="1795289"/>
          </a:xfrm>
          <a:prstGeom prst="rect">
            <a:avLst/>
          </a:prstGeom>
        </p:spPr>
      </p:pic>
    </p:spTree>
    <p:extLst>
      <p:ext uri="{BB962C8B-B14F-4D97-AF65-F5344CB8AC3E}">
        <p14:creationId xmlns:p14="http://schemas.microsoft.com/office/powerpoint/2010/main" val="967637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5104D85-97F6-1E8D-9AA4-EE3EF2517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EBD9E-2184-F920-34A8-94D57CC0FF68}"/>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endParaRPr lang="en-IN" b="1" dirty="0"/>
          </a:p>
        </p:txBody>
      </p:sp>
      <p:sp>
        <p:nvSpPr>
          <p:cNvPr id="3" name="Content Placeholder 2">
            <a:extLst>
              <a:ext uri="{FF2B5EF4-FFF2-40B4-BE49-F238E27FC236}">
                <a16:creationId xmlns:a16="http://schemas.microsoft.com/office/drawing/2014/main" id="{B21607F1-BC56-3F6C-BE35-4B93AF70FB51}"/>
              </a:ext>
            </a:extLst>
          </p:cNvPr>
          <p:cNvSpPr>
            <a:spLocks noGrp="1"/>
          </p:cNvSpPr>
          <p:nvPr>
            <p:ph idx="1"/>
          </p:nvPr>
        </p:nvSpPr>
        <p:spPr>
          <a:xfrm>
            <a:off x="236668" y="1437680"/>
            <a:ext cx="11117132" cy="4739283"/>
          </a:xfrm>
        </p:spPr>
        <p:txBody>
          <a:bodyPr/>
          <a:lstStyle/>
          <a:p>
            <a:pPr marL="0" indent="0">
              <a:buNone/>
            </a:pPr>
            <a:r>
              <a:rPr lang="en-IN" sz="2000" b="1" dirty="0">
                <a:latin typeface="Times New Roman" panose="02020603050405020304" pitchFamily="18" charset="0"/>
                <a:cs typeface="Times New Roman" panose="02020603050405020304" pitchFamily="18" charset="0"/>
              </a:rPr>
              <a:t>Common Types of Phishing: </a:t>
            </a:r>
          </a:p>
          <a:p>
            <a:pPr>
              <a:lnSpc>
                <a:spcPct val="150000"/>
              </a:lnSpc>
            </a:pPr>
            <a:r>
              <a:rPr lang="en-IN" sz="1800" b="1" dirty="0">
                <a:latin typeface="Times New Roman" panose="02020603050405020304" pitchFamily="18" charset="0"/>
                <a:cs typeface="Times New Roman" panose="02020603050405020304" pitchFamily="18" charset="0"/>
              </a:rPr>
              <a:t>Email Phishing</a:t>
            </a:r>
            <a:r>
              <a:rPr lang="en-IN" sz="1800" dirty="0">
                <a:latin typeface="Times New Roman" panose="02020603050405020304" pitchFamily="18" charset="0"/>
                <a:cs typeface="Times New Roman" panose="02020603050405020304" pitchFamily="18" charset="0"/>
              </a:rPr>
              <a:t> — Fake emails pretending to be from trusted companies. </a:t>
            </a:r>
          </a:p>
          <a:p>
            <a:pPr>
              <a:lnSpc>
                <a:spcPct val="150000"/>
              </a:lnSpc>
            </a:pPr>
            <a:r>
              <a:rPr lang="en-IN" sz="1800" b="1" dirty="0">
                <a:latin typeface="Times New Roman" panose="02020603050405020304" pitchFamily="18" charset="0"/>
                <a:cs typeface="Times New Roman" panose="02020603050405020304" pitchFamily="18" charset="0"/>
              </a:rPr>
              <a:t>Spear Phishing</a:t>
            </a:r>
            <a:r>
              <a:rPr lang="en-IN" sz="1800" dirty="0">
                <a:latin typeface="Times New Roman" panose="02020603050405020304" pitchFamily="18" charset="0"/>
                <a:cs typeface="Times New Roman" panose="02020603050405020304" pitchFamily="18" charset="0"/>
              </a:rPr>
              <a:t> — Personalized phishing attacks targeting specific individuals. </a:t>
            </a:r>
          </a:p>
          <a:p>
            <a:pPr>
              <a:lnSpc>
                <a:spcPct val="150000"/>
              </a:lnSpc>
            </a:pPr>
            <a:r>
              <a:rPr lang="en-IN" sz="1800" b="1" dirty="0">
                <a:latin typeface="Times New Roman" panose="02020603050405020304" pitchFamily="18" charset="0"/>
                <a:cs typeface="Times New Roman" panose="02020603050405020304" pitchFamily="18" charset="0"/>
              </a:rPr>
              <a:t>Clone Phishing</a:t>
            </a:r>
            <a:r>
              <a:rPr lang="en-IN" sz="1800" dirty="0">
                <a:latin typeface="Times New Roman" panose="02020603050405020304" pitchFamily="18" charset="0"/>
                <a:cs typeface="Times New Roman" panose="02020603050405020304" pitchFamily="18" charset="0"/>
              </a:rPr>
              <a:t> — Copy of a legitimate email with malicious links added. </a:t>
            </a:r>
          </a:p>
          <a:p>
            <a:pPr>
              <a:lnSpc>
                <a:spcPct val="150000"/>
              </a:lnSpc>
            </a:pPr>
            <a:r>
              <a:rPr lang="en-IN" sz="1800" b="1" dirty="0">
                <a:latin typeface="Times New Roman" panose="02020603050405020304" pitchFamily="18" charset="0"/>
                <a:cs typeface="Times New Roman" panose="02020603050405020304" pitchFamily="18" charset="0"/>
              </a:rPr>
              <a:t>Smishing</a:t>
            </a:r>
            <a:r>
              <a:rPr lang="en-IN" sz="1800" dirty="0">
                <a:latin typeface="Times New Roman" panose="02020603050405020304" pitchFamily="18" charset="0"/>
                <a:cs typeface="Times New Roman" panose="02020603050405020304" pitchFamily="18" charset="0"/>
              </a:rPr>
              <a:t> — Phishing through SMS or mobile messages. </a:t>
            </a:r>
          </a:p>
          <a:p>
            <a:pPr>
              <a:lnSpc>
                <a:spcPct val="150000"/>
              </a:lnSpc>
            </a:pPr>
            <a:r>
              <a:rPr lang="en-IN" sz="1800" b="1" dirty="0">
                <a:latin typeface="Times New Roman" panose="02020603050405020304" pitchFamily="18" charset="0"/>
                <a:cs typeface="Times New Roman" panose="02020603050405020304" pitchFamily="18" charset="0"/>
              </a:rPr>
              <a:t>Vishing</a:t>
            </a:r>
            <a:r>
              <a:rPr lang="en-IN" sz="1800" dirty="0">
                <a:latin typeface="Times New Roman" panose="02020603050405020304" pitchFamily="18" charset="0"/>
                <a:cs typeface="Times New Roman" panose="02020603050405020304" pitchFamily="18" charset="0"/>
              </a:rPr>
              <a:t> — Voice-call-based phishing attacks. </a:t>
            </a:r>
          </a:p>
          <a:p>
            <a:pPr>
              <a:lnSpc>
                <a:spcPct val="150000"/>
              </a:lnSpc>
            </a:pPr>
            <a:r>
              <a:rPr lang="en-IN" sz="1800" b="1" dirty="0">
                <a:latin typeface="Times New Roman" panose="02020603050405020304" pitchFamily="18" charset="0"/>
                <a:cs typeface="Times New Roman" panose="02020603050405020304" pitchFamily="18" charset="0"/>
              </a:rPr>
              <a:t>Social Media Phishing</a:t>
            </a:r>
            <a:r>
              <a:rPr lang="en-IN" sz="1800" dirty="0">
                <a:latin typeface="Times New Roman" panose="02020603050405020304" pitchFamily="18" charset="0"/>
                <a:cs typeface="Times New Roman" panose="02020603050405020304" pitchFamily="18" charset="0"/>
              </a:rPr>
              <a:t> — Fake login alerts, copyright warnings, or verification requests.</a:t>
            </a:r>
          </a:p>
          <a:p>
            <a:pPr marL="0" indent="0">
              <a:buNone/>
            </a:pPr>
            <a:endParaRPr lang="en-IN" dirty="0"/>
          </a:p>
        </p:txBody>
      </p:sp>
      <p:sp>
        <p:nvSpPr>
          <p:cNvPr id="4" name="Date Placeholder 3">
            <a:extLst>
              <a:ext uri="{FF2B5EF4-FFF2-40B4-BE49-F238E27FC236}">
                <a16:creationId xmlns:a16="http://schemas.microsoft.com/office/drawing/2014/main" id="{FC3CEB31-8517-BE95-C01D-EE6E4811FFD8}"/>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90497641-7FBE-6FAA-DDDF-DC16B2BF2C73}"/>
              </a:ext>
            </a:extLst>
          </p:cNvPr>
          <p:cNvSpPr>
            <a:spLocks noGrp="1"/>
          </p:cNvSpPr>
          <p:nvPr>
            <p:ph type="sldNum" sz="quarter" idx="12"/>
          </p:nvPr>
        </p:nvSpPr>
        <p:spPr/>
        <p:txBody>
          <a:bodyPr/>
          <a:lstStyle/>
          <a:p>
            <a:fld id="{EB192726-063F-4B8D-A6E6-A84087823C18}" type="slidenum">
              <a:rPr lang="en-IN" smtClean="0"/>
              <a:t>4</a:t>
            </a:fld>
            <a:endParaRPr lang="en-IN"/>
          </a:p>
        </p:txBody>
      </p:sp>
      <p:pic>
        <p:nvPicPr>
          <p:cNvPr id="6" name="Picture 5">
            <a:extLst>
              <a:ext uri="{FF2B5EF4-FFF2-40B4-BE49-F238E27FC236}">
                <a16:creationId xmlns:a16="http://schemas.microsoft.com/office/drawing/2014/main" id="{512F5DB2-2D9F-B6F7-0DEC-1665E11EE9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3648639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B7CD75A-2AF5-7E5C-9E76-5EB209A7E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C4FED-C216-E3CA-50B0-0CA7CAFD9570}"/>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Introduction</a:t>
            </a:r>
            <a:endParaRPr lang="en-IN" b="1" dirty="0"/>
          </a:p>
        </p:txBody>
      </p:sp>
      <p:sp>
        <p:nvSpPr>
          <p:cNvPr id="3" name="Content Placeholder 2">
            <a:extLst>
              <a:ext uri="{FF2B5EF4-FFF2-40B4-BE49-F238E27FC236}">
                <a16:creationId xmlns:a16="http://schemas.microsoft.com/office/drawing/2014/main" id="{05E6831D-C839-3323-18CC-C2F5F28514DA}"/>
              </a:ext>
            </a:extLst>
          </p:cNvPr>
          <p:cNvSpPr>
            <a:spLocks noGrp="1"/>
          </p:cNvSpPr>
          <p:nvPr>
            <p:ph idx="1"/>
          </p:nvPr>
        </p:nvSpPr>
        <p:spPr>
          <a:xfrm>
            <a:off x="236668" y="1437680"/>
            <a:ext cx="11117132" cy="4739283"/>
          </a:xfrm>
        </p:spPr>
        <p:txBody>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Technical Characteristics of Phishing</a:t>
            </a:r>
          </a:p>
          <a:p>
            <a:pPr marL="0" indent="0">
              <a:lnSpc>
                <a:spcPct val="150000"/>
              </a:lnSpc>
              <a:buNone/>
            </a:pPr>
            <a:endParaRPr lang="en-IN" sz="2000" b="1"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Uses social engineering and protocol abuse.</a:t>
            </a:r>
          </a:p>
          <a:p>
            <a:pPr>
              <a:lnSpc>
                <a:spcPct val="150000"/>
              </a:lnSpc>
            </a:pPr>
            <a:r>
              <a:rPr lang="en-IN" sz="2000" dirty="0">
                <a:latin typeface="Times New Roman" panose="02020603050405020304" pitchFamily="18" charset="0"/>
                <a:cs typeface="Times New Roman" panose="02020603050405020304" pitchFamily="18" charset="0"/>
              </a:rPr>
              <a:t>Commonly exploits SMTP, HTTP/HTTPS, and DNS protocols, </a:t>
            </a:r>
          </a:p>
          <a:p>
            <a:pPr>
              <a:lnSpc>
                <a:spcPct val="150000"/>
              </a:lnSpc>
            </a:pPr>
            <a:r>
              <a:rPr lang="en-IN" sz="2000" dirty="0">
                <a:latin typeface="Times New Roman" panose="02020603050405020304" pitchFamily="18" charset="0"/>
                <a:cs typeface="Times New Roman" panose="02020603050405020304" pitchFamily="18" charset="0"/>
              </a:rPr>
              <a:t>Relies on credential harvesting techniques.</a:t>
            </a:r>
          </a:p>
          <a:p>
            <a:pPr>
              <a:lnSpc>
                <a:spcPct val="150000"/>
              </a:lnSpc>
            </a:pPr>
            <a:r>
              <a:rPr lang="en-IN" sz="2000" dirty="0">
                <a:latin typeface="Times New Roman" panose="02020603050405020304" pitchFamily="18" charset="0"/>
                <a:cs typeface="Times New Roman" panose="02020603050405020304" pitchFamily="18" charset="0"/>
              </a:rPr>
              <a:t>Often hosted on spoofed or obfuscated domains.</a:t>
            </a:r>
          </a:p>
          <a:p>
            <a:pPr marL="0" indent="0">
              <a:buNone/>
            </a:pPr>
            <a:endParaRPr lang="en-IN" dirty="0"/>
          </a:p>
        </p:txBody>
      </p:sp>
      <p:sp>
        <p:nvSpPr>
          <p:cNvPr id="4" name="Date Placeholder 3">
            <a:extLst>
              <a:ext uri="{FF2B5EF4-FFF2-40B4-BE49-F238E27FC236}">
                <a16:creationId xmlns:a16="http://schemas.microsoft.com/office/drawing/2014/main" id="{8D30F924-66B8-419E-00EB-74048E6EFE85}"/>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3526D651-58A4-66EC-8505-0781F0D1C924}"/>
              </a:ext>
            </a:extLst>
          </p:cNvPr>
          <p:cNvSpPr>
            <a:spLocks noGrp="1"/>
          </p:cNvSpPr>
          <p:nvPr>
            <p:ph type="sldNum" sz="quarter" idx="12"/>
          </p:nvPr>
        </p:nvSpPr>
        <p:spPr/>
        <p:txBody>
          <a:bodyPr/>
          <a:lstStyle/>
          <a:p>
            <a:fld id="{EB192726-063F-4B8D-A6E6-A84087823C18}" type="slidenum">
              <a:rPr lang="en-IN" smtClean="0"/>
              <a:t>5</a:t>
            </a:fld>
            <a:endParaRPr lang="en-IN"/>
          </a:p>
        </p:txBody>
      </p:sp>
      <p:pic>
        <p:nvPicPr>
          <p:cNvPr id="6" name="Picture 5">
            <a:extLst>
              <a:ext uri="{FF2B5EF4-FFF2-40B4-BE49-F238E27FC236}">
                <a16:creationId xmlns:a16="http://schemas.microsoft.com/office/drawing/2014/main" id="{32A6D99E-B08A-C2BF-A35A-9BB885D867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390003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Social Impact</a:t>
            </a:r>
            <a:endParaRPr lang="en-IN" b="1" dirty="0"/>
          </a:p>
        </p:txBody>
      </p:sp>
      <p:sp>
        <p:nvSpPr>
          <p:cNvPr id="3" name="Content Placeholder 2"/>
          <p:cNvSpPr>
            <a:spLocks noGrp="1"/>
          </p:cNvSpPr>
          <p:nvPr>
            <p:ph idx="1"/>
          </p:nvPr>
        </p:nvSpPr>
        <p:spPr>
          <a:xfrm>
            <a:off x="236668" y="1437680"/>
            <a:ext cx="11117132" cy="4739283"/>
          </a:xfrm>
        </p:spPr>
        <p:txBody>
          <a:bodyPr>
            <a:normAutofit fontScale="40000" lnSpcReduction="20000"/>
          </a:bodyPr>
          <a:lstStyle/>
          <a:p>
            <a:pPr marL="0" indent="0">
              <a:buNone/>
            </a:pPr>
            <a:r>
              <a:rPr lang="en-IN" sz="4500" b="1" dirty="0">
                <a:latin typeface="Times New Roman" panose="02020603050405020304" pitchFamily="18" charset="0"/>
                <a:cs typeface="Times New Roman" panose="02020603050405020304" pitchFamily="18" charset="0"/>
              </a:rPr>
              <a:t>Psychological Impact</a:t>
            </a:r>
          </a:p>
          <a:p>
            <a:r>
              <a:rPr lang="en-IN" sz="4000" dirty="0">
                <a:latin typeface="Times New Roman" panose="02020603050405020304" pitchFamily="18" charset="0"/>
                <a:cs typeface="Times New Roman" panose="02020603050405020304" pitchFamily="18" charset="0"/>
              </a:rPr>
              <a:t>Victims often experience stress, fear, anxiety, and loss of trust after account compromise. </a:t>
            </a:r>
          </a:p>
          <a:p>
            <a:r>
              <a:rPr lang="en-IN" sz="4000" dirty="0">
                <a:latin typeface="Times New Roman" panose="02020603050405020304" pitchFamily="18" charset="0"/>
                <a:cs typeface="Times New Roman" panose="02020603050405020304" pitchFamily="18" charset="0"/>
              </a:rPr>
              <a:t>Personal conversations, photos, and private information may be exposed publicly. </a:t>
            </a:r>
          </a:p>
          <a:p>
            <a:pPr marL="0" indent="0">
              <a:buNone/>
            </a:pPr>
            <a:r>
              <a:rPr lang="en-IN" sz="4500" b="1" dirty="0">
                <a:latin typeface="Times New Roman" panose="02020603050405020304" pitchFamily="18" charset="0"/>
                <a:cs typeface="Times New Roman" panose="02020603050405020304" pitchFamily="18" charset="0"/>
              </a:rPr>
              <a:t>Financial Impact</a:t>
            </a:r>
          </a:p>
          <a:p>
            <a:r>
              <a:rPr lang="en-IN" sz="4000" dirty="0">
                <a:latin typeface="Times New Roman" panose="02020603050405020304" pitchFamily="18" charset="0"/>
                <a:cs typeface="Times New Roman" panose="02020603050405020304" pitchFamily="18" charset="0"/>
              </a:rPr>
              <a:t>Stolen social media accounts are sometimes used for online scams and fraud. </a:t>
            </a:r>
          </a:p>
          <a:p>
            <a:r>
              <a:rPr lang="en-IN" sz="4000" dirty="0">
                <a:latin typeface="Times New Roman" panose="02020603050405020304" pitchFamily="18" charset="0"/>
                <a:cs typeface="Times New Roman" panose="02020603050405020304" pitchFamily="18" charset="0"/>
              </a:rPr>
              <a:t>Victims may suffer monetary losses due to linked payment accounts or fake fundraising scams. </a:t>
            </a:r>
          </a:p>
          <a:p>
            <a:pPr marL="0" indent="0">
              <a:buNone/>
            </a:pPr>
            <a:r>
              <a:rPr lang="en-IN" sz="4500" b="1" dirty="0">
                <a:latin typeface="Times New Roman" panose="02020603050405020304" pitchFamily="18" charset="0"/>
                <a:cs typeface="Times New Roman" panose="02020603050405020304" pitchFamily="18" charset="0"/>
              </a:rPr>
              <a:t>Impact on Individuals</a:t>
            </a:r>
          </a:p>
          <a:p>
            <a:r>
              <a:rPr lang="en-IN" sz="4000" dirty="0">
                <a:latin typeface="Times New Roman" panose="02020603050405020304" pitchFamily="18" charset="0"/>
                <a:cs typeface="Times New Roman" panose="02020603050405020304" pitchFamily="18" charset="0"/>
              </a:rPr>
              <a:t>Identity theft and impersonation damage personal reputation. </a:t>
            </a:r>
          </a:p>
          <a:p>
            <a:r>
              <a:rPr lang="en-IN" sz="4000" dirty="0">
                <a:latin typeface="Times New Roman" panose="02020603050405020304" pitchFamily="18" charset="0"/>
                <a:cs typeface="Times New Roman" panose="02020603050405020304" pitchFamily="18" charset="0"/>
              </a:rPr>
              <a:t>Compromised accounts may spread phishing links to friends and family. </a:t>
            </a:r>
          </a:p>
          <a:p>
            <a:pPr marL="0" indent="0">
              <a:buNone/>
            </a:pPr>
            <a:r>
              <a:rPr lang="en-IN" sz="4500" b="1" dirty="0">
                <a:latin typeface="Times New Roman" panose="02020603050405020304" pitchFamily="18" charset="0"/>
                <a:cs typeface="Times New Roman" panose="02020603050405020304" pitchFamily="18" charset="0"/>
              </a:rPr>
              <a:t>Impact on Organizations</a:t>
            </a:r>
          </a:p>
          <a:p>
            <a:r>
              <a:rPr lang="en-IN" sz="4000" dirty="0">
                <a:latin typeface="Times New Roman" panose="02020603050405020304" pitchFamily="18" charset="0"/>
                <a:cs typeface="Times New Roman" panose="02020603050405020304" pitchFamily="18" charset="0"/>
              </a:rPr>
              <a:t>Employees falling for phishing attacks can expose company systems and confidential data. </a:t>
            </a:r>
          </a:p>
          <a:p>
            <a:r>
              <a:rPr lang="en-IN" sz="4000" dirty="0">
                <a:latin typeface="Times New Roman" panose="02020603050405020304" pitchFamily="18" charset="0"/>
                <a:cs typeface="Times New Roman" panose="02020603050405020304" pitchFamily="18" charset="0"/>
              </a:rPr>
              <a:t>Organizations may face financial loss, operational disruption, and reputational damage. </a:t>
            </a:r>
          </a:p>
          <a:p>
            <a:pPr marL="0" indent="0">
              <a:buNone/>
            </a:pPr>
            <a:r>
              <a:rPr lang="en-IN" sz="4500" b="1" dirty="0">
                <a:latin typeface="Times New Roman" panose="02020603050405020304" pitchFamily="18" charset="0"/>
                <a:cs typeface="Times New Roman" panose="02020603050405020304" pitchFamily="18" charset="0"/>
              </a:rPr>
              <a:t>Impact on Society</a:t>
            </a:r>
          </a:p>
          <a:p>
            <a:r>
              <a:rPr lang="en-IN" sz="4000" dirty="0">
                <a:latin typeface="Times New Roman" panose="02020603050405020304" pitchFamily="18" charset="0"/>
                <a:cs typeface="Times New Roman" panose="02020603050405020304" pitchFamily="18" charset="0"/>
              </a:rPr>
              <a:t>Large-scale phishing campaigns reduce trust in digital communication platforms. </a:t>
            </a:r>
          </a:p>
          <a:p>
            <a:r>
              <a:rPr lang="en-IN" sz="4000" dirty="0">
                <a:latin typeface="Times New Roman" panose="02020603050405020304" pitchFamily="18" charset="0"/>
                <a:cs typeface="Times New Roman" panose="02020603050405020304" pitchFamily="18" charset="0"/>
              </a:rPr>
              <a:t>Cybercrime activities continue to increase due to lack of cybersecurity awareness among users.</a:t>
            </a:r>
          </a:p>
          <a:p>
            <a:pPr marL="0" indent="0">
              <a:buNone/>
            </a:pPr>
            <a:endParaRPr lang="en-IN" dirty="0"/>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6</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1372641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9B885DB-6EAA-EBB0-B2BB-2501CAB5F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8E4CB-CBE3-3E2C-F5C7-E2B6C1882F75}"/>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Social Impact</a:t>
            </a:r>
            <a:endParaRPr lang="en-IN" b="1" dirty="0"/>
          </a:p>
        </p:txBody>
      </p:sp>
      <p:sp>
        <p:nvSpPr>
          <p:cNvPr id="3" name="Content Placeholder 2">
            <a:extLst>
              <a:ext uri="{FF2B5EF4-FFF2-40B4-BE49-F238E27FC236}">
                <a16:creationId xmlns:a16="http://schemas.microsoft.com/office/drawing/2014/main" id="{36C33740-2045-7721-20B2-D172DE253B2D}"/>
              </a:ext>
            </a:extLst>
          </p:cNvPr>
          <p:cNvSpPr>
            <a:spLocks noGrp="1"/>
          </p:cNvSpPr>
          <p:nvPr>
            <p:ph idx="1"/>
          </p:nvPr>
        </p:nvSpPr>
        <p:spPr>
          <a:xfrm>
            <a:off x="236668" y="1437680"/>
            <a:ext cx="11117132" cy="473928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Technical Consequences</a:t>
            </a:r>
          </a:p>
          <a:p>
            <a:pPr>
              <a:lnSpc>
                <a:spcPct val="150000"/>
              </a:lnSpc>
            </a:pPr>
            <a:r>
              <a:rPr lang="en-IN" sz="2200" dirty="0">
                <a:latin typeface="Times New Roman" panose="02020603050405020304" pitchFamily="18" charset="0"/>
                <a:cs typeface="Times New Roman" panose="02020603050405020304" pitchFamily="18" charset="0"/>
              </a:rPr>
              <a:t>Session hijacking </a:t>
            </a:r>
          </a:p>
          <a:p>
            <a:pPr>
              <a:lnSpc>
                <a:spcPct val="150000"/>
              </a:lnSpc>
            </a:pPr>
            <a:r>
              <a:rPr lang="en-IN" sz="2200" dirty="0">
                <a:latin typeface="Times New Roman" panose="02020603050405020304" pitchFamily="18" charset="0"/>
                <a:cs typeface="Times New Roman" panose="02020603050405020304" pitchFamily="18" charset="0"/>
              </a:rPr>
              <a:t>Credential reuse attacks </a:t>
            </a:r>
          </a:p>
          <a:p>
            <a:pPr>
              <a:lnSpc>
                <a:spcPct val="150000"/>
              </a:lnSpc>
            </a:pPr>
            <a:r>
              <a:rPr lang="en-IN" sz="2200" dirty="0">
                <a:latin typeface="Times New Roman" panose="02020603050405020304" pitchFamily="18" charset="0"/>
                <a:cs typeface="Times New Roman" panose="02020603050405020304" pitchFamily="18" charset="0"/>
              </a:rPr>
              <a:t>Unauthorized API access </a:t>
            </a:r>
          </a:p>
          <a:p>
            <a:pPr>
              <a:lnSpc>
                <a:spcPct val="150000"/>
              </a:lnSpc>
            </a:pPr>
            <a:r>
              <a:rPr lang="en-IN" sz="2200" dirty="0">
                <a:latin typeface="Times New Roman" panose="02020603050405020304" pitchFamily="18" charset="0"/>
                <a:cs typeface="Times New Roman" panose="02020603050405020304" pitchFamily="18" charset="0"/>
              </a:rPr>
              <a:t>Malware delivery through compromised accounts </a:t>
            </a:r>
          </a:p>
          <a:p>
            <a:pPr>
              <a:lnSpc>
                <a:spcPct val="150000"/>
              </a:lnSpc>
            </a:pPr>
            <a:r>
              <a:rPr lang="en-IN" sz="2200" dirty="0">
                <a:latin typeface="Times New Roman" panose="02020603050405020304" pitchFamily="18" charset="0"/>
                <a:cs typeface="Times New Roman" panose="02020603050405020304" pitchFamily="18" charset="0"/>
              </a:rPr>
              <a:t>Botnet-based phishing campaigns</a:t>
            </a:r>
          </a:p>
          <a:p>
            <a:pPr marL="0" indent="0">
              <a:buNone/>
            </a:pPr>
            <a:endParaRPr lang="en-IN" dirty="0"/>
          </a:p>
        </p:txBody>
      </p:sp>
      <p:sp>
        <p:nvSpPr>
          <p:cNvPr id="4" name="Date Placeholder 3">
            <a:extLst>
              <a:ext uri="{FF2B5EF4-FFF2-40B4-BE49-F238E27FC236}">
                <a16:creationId xmlns:a16="http://schemas.microsoft.com/office/drawing/2014/main" id="{1198991C-0C98-1902-42F5-B093CBD462F8}"/>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34AC3140-A668-1DD8-FD13-28AF84A5478A}"/>
              </a:ext>
            </a:extLst>
          </p:cNvPr>
          <p:cNvSpPr>
            <a:spLocks noGrp="1"/>
          </p:cNvSpPr>
          <p:nvPr>
            <p:ph type="sldNum" sz="quarter" idx="12"/>
          </p:nvPr>
        </p:nvSpPr>
        <p:spPr/>
        <p:txBody>
          <a:bodyPr/>
          <a:lstStyle/>
          <a:p>
            <a:fld id="{EB192726-063F-4B8D-A6E6-A84087823C18}" type="slidenum">
              <a:rPr lang="en-IN" smtClean="0"/>
              <a:t>7</a:t>
            </a:fld>
            <a:endParaRPr lang="en-IN"/>
          </a:p>
        </p:txBody>
      </p:sp>
      <p:pic>
        <p:nvPicPr>
          <p:cNvPr id="6" name="Picture 5">
            <a:extLst>
              <a:ext uri="{FF2B5EF4-FFF2-40B4-BE49-F238E27FC236}">
                <a16:creationId xmlns:a16="http://schemas.microsoft.com/office/drawing/2014/main" id="{70F84856-85CA-3888-0A72-B367CF1268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3781732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Implementation</a:t>
            </a:r>
            <a:endParaRPr lang="en-IN" b="1" dirty="0"/>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8</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10" name="Content Placeholder 9">
            <a:extLst>
              <a:ext uri="{FF2B5EF4-FFF2-40B4-BE49-F238E27FC236}">
                <a16:creationId xmlns:a16="http://schemas.microsoft.com/office/drawing/2014/main" id="{8A9DF0D8-344E-95F5-AE67-4F705843307F}"/>
              </a:ext>
            </a:extLst>
          </p:cNvPr>
          <p:cNvSpPr>
            <a:spLocks noGrp="1"/>
          </p:cNvSpPr>
          <p:nvPr>
            <p:ph idx="1"/>
          </p:nvPr>
        </p:nvSpPr>
        <p:spPr>
          <a:xfrm>
            <a:off x="536448" y="1611743"/>
            <a:ext cx="10515600" cy="4351338"/>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Step 1 — Fake Email Creation</a:t>
            </a:r>
          </a:p>
          <a:p>
            <a:pPr marL="0" indent="0">
              <a:buNone/>
            </a:pPr>
            <a:r>
              <a:rPr lang="en-IN" sz="1900" dirty="0">
                <a:latin typeface="Times New Roman" panose="02020603050405020304" pitchFamily="18" charset="0"/>
                <a:cs typeface="Times New Roman" panose="02020603050405020304" pitchFamily="18" charset="0"/>
              </a:rPr>
              <a:t>	Attacker designs a professional-looking email using Instagram logos and branding. </a:t>
            </a:r>
          </a:p>
          <a:p>
            <a:pPr marL="0" indent="0">
              <a:buNone/>
            </a:pPr>
            <a:r>
              <a:rPr lang="en-IN" sz="2000" b="1" dirty="0">
                <a:latin typeface="Times New Roman" panose="02020603050405020304" pitchFamily="18" charset="0"/>
                <a:cs typeface="Times New Roman" panose="02020603050405020304" pitchFamily="18" charset="0"/>
              </a:rPr>
              <a:t>Step 2 — URL Masking</a:t>
            </a:r>
          </a:p>
          <a:p>
            <a:pPr marL="0" indent="0">
              <a:buNone/>
            </a:pPr>
            <a:r>
              <a:rPr lang="en-IN" sz="1900" dirty="0">
                <a:latin typeface="Times New Roman" panose="02020603050405020304" pitchFamily="18" charset="0"/>
                <a:cs typeface="Times New Roman" panose="02020603050405020304" pitchFamily="18" charset="0"/>
              </a:rPr>
              <a:t>	Malicious links are hidden behind legitimate-looking text. </a:t>
            </a:r>
          </a:p>
          <a:p>
            <a:pPr marL="0" indent="0">
              <a:buNone/>
            </a:pPr>
            <a:r>
              <a:rPr lang="en-IN" sz="2000" b="1" dirty="0">
                <a:latin typeface="Times New Roman" panose="02020603050405020304" pitchFamily="18" charset="0"/>
                <a:cs typeface="Times New Roman" panose="02020603050405020304" pitchFamily="18" charset="0"/>
              </a:rPr>
              <a:t>Step 3 — Victim Clicks the Link</a:t>
            </a:r>
          </a:p>
          <a:p>
            <a:pPr marL="0" indent="0">
              <a:buNone/>
            </a:pPr>
            <a:r>
              <a:rPr lang="en-IN" sz="1800" dirty="0">
                <a:latin typeface="Times New Roman" panose="02020603050405020304" pitchFamily="18" charset="0"/>
                <a:cs typeface="Times New Roman" panose="02020603050405020304" pitchFamily="18" charset="0"/>
              </a:rPr>
              <a:t>	User trusts the email and opens the fake website. </a:t>
            </a:r>
          </a:p>
          <a:p>
            <a:pPr marL="0" indent="0">
              <a:buNone/>
            </a:pPr>
            <a:r>
              <a:rPr lang="en-IN" sz="2000" b="1" dirty="0">
                <a:latin typeface="Times New Roman" panose="02020603050405020304" pitchFamily="18" charset="0"/>
                <a:cs typeface="Times New Roman" panose="02020603050405020304" pitchFamily="18" charset="0"/>
              </a:rPr>
              <a:t>Step 4 — Credential Theft</a:t>
            </a:r>
          </a:p>
          <a:p>
            <a:pPr marL="0" indent="0">
              <a:buNone/>
            </a:pPr>
            <a:r>
              <a:rPr lang="en-IN" sz="1800" dirty="0">
                <a:latin typeface="Times New Roman" panose="02020603050405020304" pitchFamily="18" charset="0"/>
                <a:cs typeface="Times New Roman" panose="02020603050405020304" pitchFamily="18" charset="0"/>
              </a:rPr>
              <a:t>	Username and password are entered into the fake login page. </a:t>
            </a:r>
          </a:p>
          <a:p>
            <a:pPr marL="0" indent="0">
              <a:buNone/>
            </a:pPr>
            <a:r>
              <a:rPr lang="en-IN" sz="2000" b="1" dirty="0">
                <a:latin typeface="Times New Roman" panose="02020603050405020304" pitchFamily="18" charset="0"/>
                <a:cs typeface="Times New Roman" panose="02020603050405020304" pitchFamily="18" charset="0"/>
              </a:rPr>
              <a:t>Step 5 — Unauthorized Access</a:t>
            </a:r>
          </a:p>
          <a:p>
            <a:pPr marL="0" indent="0">
              <a:buNone/>
            </a:pPr>
            <a:r>
              <a:rPr lang="en-IN" sz="1800" dirty="0">
                <a:latin typeface="Times New Roman" panose="02020603050405020304" pitchFamily="18" charset="0"/>
                <a:cs typeface="Times New Roman" panose="02020603050405020304" pitchFamily="18" charset="0"/>
              </a:rPr>
              <a:t>	Attacker uses stolen credentials to access the victim’s account. </a:t>
            </a:r>
          </a:p>
          <a:p>
            <a:endParaRPr lang="LID4096" dirty="0"/>
          </a:p>
        </p:txBody>
      </p:sp>
    </p:spTree>
    <p:extLst>
      <p:ext uri="{BB962C8B-B14F-4D97-AF65-F5344CB8AC3E}">
        <p14:creationId xmlns:p14="http://schemas.microsoft.com/office/powerpoint/2010/main" val="2517159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5170593-2E80-F0DF-42E8-4F470D53E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1E2C3-EA6D-6CC4-F484-95C248222D31}"/>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Implementation – Technical Flow of Attack</a:t>
            </a:r>
            <a:endParaRPr lang="en-IN" b="1" dirty="0"/>
          </a:p>
        </p:txBody>
      </p:sp>
      <p:sp>
        <p:nvSpPr>
          <p:cNvPr id="4" name="Date Placeholder 3">
            <a:extLst>
              <a:ext uri="{FF2B5EF4-FFF2-40B4-BE49-F238E27FC236}">
                <a16:creationId xmlns:a16="http://schemas.microsoft.com/office/drawing/2014/main" id="{E080B4AE-D931-E602-093C-E19E2227E311}"/>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C08CBCA2-29C5-FB17-0BAE-176B92991F7E}"/>
              </a:ext>
            </a:extLst>
          </p:cNvPr>
          <p:cNvSpPr>
            <a:spLocks noGrp="1"/>
          </p:cNvSpPr>
          <p:nvPr>
            <p:ph type="sldNum" sz="quarter" idx="12"/>
          </p:nvPr>
        </p:nvSpPr>
        <p:spPr/>
        <p:txBody>
          <a:bodyPr/>
          <a:lstStyle/>
          <a:p>
            <a:fld id="{EB192726-063F-4B8D-A6E6-A84087823C18}" type="slidenum">
              <a:rPr lang="en-IN" smtClean="0"/>
              <a:t>9</a:t>
            </a:fld>
            <a:endParaRPr lang="en-IN"/>
          </a:p>
        </p:txBody>
      </p:sp>
      <p:pic>
        <p:nvPicPr>
          <p:cNvPr id="6" name="Picture 5">
            <a:extLst>
              <a:ext uri="{FF2B5EF4-FFF2-40B4-BE49-F238E27FC236}">
                <a16:creationId xmlns:a16="http://schemas.microsoft.com/office/drawing/2014/main" id="{C3B6EAD5-B0AD-2D9F-14FF-DBB4D0E046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pic>
        <p:nvPicPr>
          <p:cNvPr id="12" name="Content Placeholder 11">
            <a:extLst>
              <a:ext uri="{FF2B5EF4-FFF2-40B4-BE49-F238E27FC236}">
                <a16:creationId xmlns:a16="http://schemas.microsoft.com/office/drawing/2014/main" id="{DA12D8D9-2A01-3552-82F1-425F97EB88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3080" y="1658363"/>
            <a:ext cx="8805672" cy="4258097"/>
          </a:xfrm>
          <a:prstGeom prst="rect">
            <a:avLst/>
          </a:prstGeom>
        </p:spPr>
      </p:pic>
    </p:spTree>
    <p:extLst>
      <p:ext uri="{BB962C8B-B14F-4D97-AF65-F5344CB8AC3E}">
        <p14:creationId xmlns:p14="http://schemas.microsoft.com/office/powerpoint/2010/main" val="1677808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9B9A5C2-405D-3CBD-E0DE-4860CE229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C489D-1792-E3F4-B356-F4D8414B66C0}"/>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Implementation – Flow of attack</a:t>
            </a:r>
            <a:endParaRPr lang="en-IN" b="1" dirty="0"/>
          </a:p>
        </p:txBody>
      </p:sp>
      <p:pic>
        <p:nvPicPr>
          <p:cNvPr id="8" name="Content Placeholder 7">
            <a:extLst>
              <a:ext uri="{FF2B5EF4-FFF2-40B4-BE49-F238E27FC236}">
                <a16:creationId xmlns:a16="http://schemas.microsoft.com/office/drawing/2014/main" id="{4BE61E18-D13F-61F5-A275-802BF7C09C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9192" y="1218474"/>
            <a:ext cx="6547104" cy="4888505"/>
          </a:xfrm>
          <a:prstGeom prst="rect">
            <a:avLst/>
          </a:prstGeom>
        </p:spPr>
      </p:pic>
      <p:sp>
        <p:nvSpPr>
          <p:cNvPr id="4" name="Date Placeholder 3">
            <a:extLst>
              <a:ext uri="{FF2B5EF4-FFF2-40B4-BE49-F238E27FC236}">
                <a16:creationId xmlns:a16="http://schemas.microsoft.com/office/drawing/2014/main" id="{D7199280-71B1-75B6-9D64-E12274F28FDC}"/>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444F90E7-96EA-D404-D19A-06BD4719A4EF}"/>
              </a:ext>
            </a:extLst>
          </p:cNvPr>
          <p:cNvSpPr>
            <a:spLocks noGrp="1"/>
          </p:cNvSpPr>
          <p:nvPr>
            <p:ph type="sldNum" sz="quarter" idx="12"/>
          </p:nvPr>
        </p:nvSpPr>
        <p:spPr/>
        <p:txBody>
          <a:bodyPr/>
          <a:lstStyle/>
          <a:p>
            <a:fld id="{EB192726-063F-4B8D-A6E6-A84087823C18}" type="slidenum">
              <a:rPr lang="en-IN" smtClean="0"/>
              <a:t>10</a:t>
            </a:fld>
            <a:endParaRPr lang="en-IN"/>
          </a:p>
        </p:txBody>
      </p:sp>
      <p:pic>
        <p:nvPicPr>
          <p:cNvPr id="6" name="Picture 5">
            <a:extLst>
              <a:ext uri="{FF2B5EF4-FFF2-40B4-BE49-F238E27FC236}">
                <a16:creationId xmlns:a16="http://schemas.microsoft.com/office/drawing/2014/main" id="{808666EC-44F5-C468-B966-AC8F906AD4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1242132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B488B14-E065-BA01-A4EC-27DCD8767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B180B-2998-6918-96D1-0C1D188C2E2F}"/>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Implementation – Tools Used</a:t>
            </a:r>
            <a:endParaRPr lang="en-IN" b="1" dirty="0"/>
          </a:p>
        </p:txBody>
      </p:sp>
      <p:sp>
        <p:nvSpPr>
          <p:cNvPr id="4" name="Date Placeholder 3">
            <a:extLst>
              <a:ext uri="{FF2B5EF4-FFF2-40B4-BE49-F238E27FC236}">
                <a16:creationId xmlns:a16="http://schemas.microsoft.com/office/drawing/2014/main" id="{A20A3552-D373-B723-A299-2CF5F2736C31}"/>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3D6384D6-E92F-D7A7-05AA-A9713CEA309A}"/>
              </a:ext>
            </a:extLst>
          </p:cNvPr>
          <p:cNvSpPr>
            <a:spLocks noGrp="1"/>
          </p:cNvSpPr>
          <p:nvPr>
            <p:ph type="sldNum" sz="quarter" idx="12"/>
          </p:nvPr>
        </p:nvSpPr>
        <p:spPr/>
        <p:txBody>
          <a:bodyPr/>
          <a:lstStyle/>
          <a:p>
            <a:fld id="{EB192726-063F-4B8D-A6E6-A84087823C18}" type="slidenum">
              <a:rPr lang="en-IN" smtClean="0"/>
              <a:t>11</a:t>
            </a:fld>
            <a:endParaRPr lang="en-IN"/>
          </a:p>
        </p:txBody>
      </p:sp>
      <p:pic>
        <p:nvPicPr>
          <p:cNvPr id="6" name="Picture 5">
            <a:extLst>
              <a:ext uri="{FF2B5EF4-FFF2-40B4-BE49-F238E27FC236}">
                <a16:creationId xmlns:a16="http://schemas.microsoft.com/office/drawing/2014/main" id="{950682C5-015B-0A34-E015-525AD4682D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graphicFrame>
        <p:nvGraphicFramePr>
          <p:cNvPr id="9" name="Content Placeholder 8">
            <a:extLst>
              <a:ext uri="{FF2B5EF4-FFF2-40B4-BE49-F238E27FC236}">
                <a16:creationId xmlns:a16="http://schemas.microsoft.com/office/drawing/2014/main" id="{0C767713-0EAC-BF0D-9C07-45AC58F5E5DC}"/>
              </a:ext>
            </a:extLst>
          </p:cNvPr>
          <p:cNvGraphicFramePr>
            <a:graphicFrameLocks noGrp="1"/>
          </p:cNvGraphicFramePr>
          <p:nvPr>
            <p:ph idx="1"/>
            <p:extLst>
              <p:ext uri="{D42A27DB-BD31-4B8C-83A1-F6EECF244321}">
                <p14:modId xmlns:p14="http://schemas.microsoft.com/office/powerpoint/2010/main" val="799792595"/>
              </p:ext>
            </p:extLst>
          </p:nvPr>
        </p:nvGraphicFramePr>
        <p:xfrm>
          <a:off x="841248" y="1825624"/>
          <a:ext cx="10512552" cy="2441577"/>
        </p:xfrm>
        <a:graphic>
          <a:graphicData uri="http://schemas.openxmlformats.org/drawingml/2006/table">
            <a:tbl>
              <a:tblPr firstRow="1" bandRow="1">
                <a:tableStyleId>{5C22544A-7EE6-4342-B048-85BDC9FD1C3A}</a:tableStyleId>
              </a:tblPr>
              <a:tblGrid>
                <a:gridCol w="5254752">
                  <a:extLst>
                    <a:ext uri="{9D8B030D-6E8A-4147-A177-3AD203B41FA5}">
                      <a16:colId xmlns:a16="http://schemas.microsoft.com/office/drawing/2014/main" val="2318555516"/>
                    </a:ext>
                  </a:extLst>
                </a:gridCol>
                <a:gridCol w="5257800">
                  <a:extLst>
                    <a:ext uri="{9D8B030D-6E8A-4147-A177-3AD203B41FA5}">
                      <a16:colId xmlns:a16="http://schemas.microsoft.com/office/drawing/2014/main" val="1629018570"/>
                    </a:ext>
                  </a:extLst>
                </a:gridCol>
              </a:tblGrid>
              <a:tr h="489657">
                <a:tc>
                  <a:txBody>
                    <a:bodyPr/>
                    <a:lstStyle/>
                    <a:p>
                      <a:r>
                        <a:rPr lang="en-US" dirty="0">
                          <a:latin typeface="Times New Roman" panose="02020603050405020304" pitchFamily="18" charset="0"/>
                          <a:cs typeface="Times New Roman" panose="02020603050405020304" pitchFamily="18" charset="0"/>
                        </a:rPr>
                        <a:t>Tools</a:t>
                      </a:r>
                      <a:endParaRPr lang="LID4096"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Purpose</a:t>
                      </a:r>
                      <a:endParaRPr lang="LID4096"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9545461"/>
                  </a:ext>
                </a:extLst>
              </a:tr>
              <a:tr h="489657">
                <a:tc>
                  <a:txBody>
                    <a:bodyPr/>
                    <a:lstStyle/>
                    <a:p>
                      <a:r>
                        <a:rPr lang="en-US" dirty="0">
                          <a:latin typeface="Times New Roman" panose="02020603050405020304" pitchFamily="18" charset="0"/>
                          <a:cs typeface="Times New Roman" panose="02020603050405020304" pitchFamily="18" charset="0"/>
                        </a:rPr>
                        <a:t>Oracle Virtual Box</a:t>
                      </a:r>
                      <a:endParaRPr lang="LID4096" dirty="0">
                        <a:latin typeface="Times New Roman" panose="02020603050405020304" pitchFamily="18" charset="0"/>
                        <a:cs typeface="Times New Roman" panose="02020603050405020304" pitchFamily="18" charset="0"/>
                      </a:endParaRPr>
                    </a:p>
                  </a:txBody>
                  <a:tcPr/>
                </a:tc>
                <a:tc>
                  <a:txBody>
                    <a:bodyPr/>
                    <a:lstStyle/>
                    <a:p>
                      <a:pPr>
                        <a:buNone/>
                      </a:pPr>
                      <a:r>
                        <a:rPr lang="en-001" dirty="0">
                          <a:latin typeface="Times New Roman" panose="02020603050405020304" pitchFamily="18" charset="0"/>
                          <a:cs typeface="Times New Roman" panose="02020603050405020304" pitchFamily="18" charset="0"/>
                        </a:rPr>
                        <a:t>Attack Hosting</a:t>
                      </a:r>
                    </a:p>
                  </a:txBody>
                  <a:tcPr anchor="ctr"/>
                </a:tc>
                <a:extLst>
                  <a:ext uri="{0D108BD9-81ED-4DB2-BD59-A6C34878D82A}">
                    <a16:rowId xmlns:a16="http://schemas.microsoft.com/office/drawing/2014/main" val="3284834991"/>
                  </a:ext>
                </a:extLst>
              </a:tr>
              <a:tr h="489657">
                <a:tc>
                  <a:txBody>
                    <a:bodyPr/>
                    <a:lstStyle/>
                    <a:p>
                      <a:r>
                        <a:rPr lang="en-US" dirty="0">
                          <a:latin typeface="Times New Roman" panose="02020603050405020304" pitchFamily="18" charset="0"/>
                          <a:cs typeface="Times New Roman" panose="02020603050405020304" pitchFamily="18" charset="0"/>
                        </a:rPr>
                        <a:t>Zphisher Tool</a:t>
                      </a:r>
                      <a:endParaRPr lang="LID4096"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Phishing Simulation</a:t>
                      </a:r>
                      <a:endParaRPr lang="LID4096"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4061702"/>
                  </a:ext>
                </a:extLst>
              </a:tr>
              <a:tr h="489657">
                <a:tc>
                  <a:txBody>
                    <a:bodyPr/>
                    <a:lstStyle/>
                    <a:p>
                      <a:r>
                        <a:rPr lang="en-US" dirty="0">
                          <a:latin typeface="Times New Roman" panose="02020603050405020304" pitchFamily="18" charset="0"/>
                          <a:cs typeface="Times New Roman" panose="02020603050405020304" pitchFamily="18" charset="0"/>
                        </a:rPr>
                        <a:t>Emkei Mailer</a:t>
                      </a:r>
                      <a:endParaRPr lang="LID4096" dirty="0">
                        <a:latin typeface="Times New Roman" panose="02020603050405020304" pitchFamily="18" charset="0"/>
                        <a:cs typeface="Times New Roman" panose="02020603050405020304" pitchFamily="18" charset="0"/>
                      </a:endParaRPr>
                    </a:p>
                  </a:txBody>
                  <a:tcPr/>
                </a:tc>
                <a:tc>
                  <a:txBody>
                    <a:bodyPr/>
                    <a:lstStyle/>
                    <a:p>
                      <a:pPr algn="l"/>
                      <a:r>
                        <a:rPr lang="en-US" dirty="0">
                          <a:latin typeface="Times New Roman" panose="02020603050405020304" pitchFamily="18" charset="0"/>
                          <a:cs typeface="Times New Roman" panose="02020603050405020304" pitchFamily="18" charset="0"/>
                        </a:rPr>
                        <a:t>Email Spoofing</a:t>
                      </a:r>
                      <a:endParaRPr lang="LID4096"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05327426"/>
                  </a:ext>
                </a:extLst>
              </a:tr>
              <a:tr h="482949">
                <a:tc>
                  <a:txBody>
                    <a:bodyPr/>
                    <a:lstStyle/>
                    <a:p>
                      <a:r>
                        <a:rPr lang="en-US" dirty="0">
                          <a:latin typeface="Times New Roman" panose="02020603050405020304" pitchFamily="18" charset="0"/>
                          <a:cs typeface="Times New Roman" panose="02020603050405020304" pitchFamily="18" charset="0"/>
                        </a:rPr>
                        <a:t>Internet Browser</a:t>
                      </a:r>
                      <a:endParaRPr lang="LID4096" dirty="0">
                        <a:latin typeface="Times New Roman" panose="02020603050405020304" pitchFamily="18" charset="0"/>
                        <a:cs typeface="Times New Roman" panose="02020603050405020304" pitchFamily="18" charset="0"/>
                      </a:endParaRPr>
                    </a:p>
                  </a:txBody>
                  <a:tcPr/>
                </a:tc>
                <a:tc>
                  <a:txBody>
                    <a:bodyPr/>
                    <a:lstStyle/>
                    <a:p>
                      <a:pPr algn="l">
                        <a:buNone/>
                      </a:pPr>
                      <a:r>
                        <a:rPr lang="en-US" dirty="0">
                          <a:latin typeface="Times New Roman" panose="02020603050405020304" pitchFamily="18" charset="0"/>
                          <a:cs typeface="Times New Roman" panose="02020603050405020304" pitchFamily="18" charset="0"/>
                        </a:rPr>
                        <a:t>Link Inspection</a:t>
                      </a:r>
                      <a:endParaRPr lang="en-00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793950"/>
                  </a:ext>
                </a:extLst>
              </a:tr>
            </a:tbl>
          </a:graphicData>
        </a:graphic>
      </p:graphicFrame>
    </p:spTree>
    <p:extLst>
      <p:ext uri="{BB962C8B-B14F-4D97-AF65-F5344CB8AC3E}">
        <p14:creationId xmlns:p14="http://schemas.microsoft.com/office/powerpoint/2010/main" val="774090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D781899-5D15-88EF-B07F-5719EE66C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49457-6B45-FC95-253E-6FD419B2DEBA}"/>
              </a:ext>
            </a:extLst>
          </p:cNvPr>
          <p:cNvSpPr>
            <a:spLocks noGrp="1"/>
          </p:cNvSpPr>
          <p:nvPr>
            <p:ph type="title"/>
          </p:nvPr>
        </p:nvSpPr>
        <p:spPr>
          <a:xfrm>
            <a:off x="236668" y="866890"/>
            <a:ext cx="10515600" cy="570790"/>
          </a:xfrm>
        </p:spPr>
        <p:txBody>
          <a:bodyPr>
            <a:normAutofit fontScale="90000"/>
          </a:bodyPr>
          <a:lstStyle/>
          <a:p>
            <a:r>
              <a:rPr lang="en-IN" b="1" dirty="0">
                <a:latin typeface="Times New Roman" panose="02020603050405020304" pitchFamily="18" charset="0"/>
                <a:cs typeface="Times New Roman" panose="02020603050405020304" pitchFamily="18" charset="0"/>
              </a:rPr>
              <a:t>Functionality of Tools used:</a:t>
            </a:r>
            <a:br>
              <a:rPr lang="en-IN" b="1" dirty="0"/>
            </a:br>
            <a:endParaRPr lang="en-IN" b="1" dirty="0"/>
          </a:p>
        </p:txBody>
      </p:sp>
      <p:sp>
        <p:nvSpPr>
          <p:cNvPr id="3" name="Content Placeholder 2">
            <a:extLst>
              <a:ext uri="{FF2B5EF4-FFF2-40B4-BE49-F238E27FC236}">
                <a16:creationId xmlns:a16="http://schemas.microsoft.com/office/drawing/2014/main" id="{A22D5F00-D1F4-6F0B-B79B-0774CC2B42CD}"/>
              </a:ext>
            </a:extLst>
          </p:cNvPr>
          <p:cNvSpPr>
            <a:spLocks noGrp="1"/>
          </p:cNvSpPr>
          <p:nvPr>
            <p:ph idx="1"/>
          </p:nvPr>
        </p:nvSpPr>
        <p:spPr>
          <a:xfrm>
            <a:off x="236668" y="1437680"/>
            <a:ext cx="11650532" cy="4918670"/>
          </a:xfrm>
        </p:spPr>
        <p:txBody>
          <a:bodyPr>
            <a:normAutofit/>
          </a:bodyPr>
          <a:lstStyle/>
          <a:p>
            <a:pPr>
              <a:lnSpc>
                <a:spcPct val="150000"/>
              </a:lnSpc>
            </a:pPr>
            <a:r>
              <a:rPr lang="en-IN" sz="1800" b="1" dirty="0">
                <a:latin typeface="Times New Roman" panose="02020603050405020304" pitchFamily="18" charset="0"/>
                <a:cs typeface="Times New Roman" panose="02020603050405020304" pitchFamily="18" charset="0"/>
              </a:rPr>
              <a:t>Oracle Virtual Box</a:t>
            </a:r>
          </a:p>
          <a:p>
            <a:pPr marL="0" indent="0">
              <a:lnSpc>
                <a:spcPct val="150000"/>
              </a:lnSpc>
              <a:buNone/>
            </a:pPr>
            <a:r>
              <a:rPr lang="en-IN" sz="1600" dirty="0">
                <a:latin typeface="Times New Roman" panose="02020603050405020304" pitchFamily="18" charset="0"/>
                <a:cs typeface="Times New Roman" panose="02020603050405020304" pitchFamily="18" charset="0"/>
              </a:rPr>
              <a:t>Used to host Ubuntu VM  which provides an isolated and secure environment to safely host and demonstrate phishing attack simulations without affecting the main operating system.</a:t>
            </a:r>
          </a:p>
          <a:p>
            <a:pPr>
              <a:lnSpc>
                <a:spcPct val="150000"/>
              </a:lnSpc>
            </a:pPr>
            <a:r>
              <a:rPr lang="en-IN" sz="1800" b="1" dirty="0" err="1">
                <a:latin typeface="Times New Roman" panose="02020603050405020304" pitchFamily="18" charset="0"/>
                <a:cs typeface="Times New Roman" panose="02020603050405020304" pitchFamily="18" charset="0"/>
              </a:rPr>
              <a:t>Zphisher</a:t>
            </a:r>
            <a:endParaRPr lang="en-IN" sz="1800" b="1" dirty="0">
              <a:latin typeface="Times New Roman" panose="02020603050405020304" pitchFamily="18" charset="0"/>
              <a:cs typeface="Times New Roman" panose="02020603050405020304" pitchFamily="18" charset="0"/>
            </a:endParaRPr>
          </a:p>
          <a:p>
            <a:pPr marL="0" indent="0">
              <a:lnSpc>
                <a:spcPct val="150000"/>
              </a:lnSpc>
              <a:buNone/>
            </a:pPr>
            <a:endParaRPr lang="en-IN" sz="1800" b="1" dirty="0">
              <a:latin typeface="Times New Roman" panose="02020603050405020304" pitchFamily="18" charset="0"/>
              <a:cs typeface="Times New Roman" panose="02020603050405020304" pitchFamily="18" charset="0"/>
            </a:endParaRPr>
          </a:p>
          <a:p>
            <a:pPr>
              <a:lnSpc>
                <a:spcPct val="150000"/>
              </a:lnSpc>
            </a:pPr>
            <a:endParaRPr lang="en-IN" sz="1800" b="1" dirty="0">
              <a:latin typeface="Times New Roman" panose="02020603050405020304" pitchFamily="18" charset="0"/>
              <a:cs typeface="Times New Roman" panose="02020603050405020304" pitchFamily="18" charset="0"/>
            </a:endParaRPr>
          </a:p>
          <a:p>
            <a:pPr>
              <a:lnSpc>
                <a:spcPct val="150000"/>
              </a:lnSpc>
            </a:pPr>
            <a:r>
              <a:rPr lang="en-IN" sz="1800" b="1" dirty="0" err="1">
                <a:latin typeface="Times New Roman" panose="02020603050405020304" pitchFamily="18" charset="0"/>
                <a:cs typeface="Times New Roman" panose="02020603050405020304" pitchFamily="18" charset="0"/>
              </a:rPr>
              <a:t>Emkei</a:t>
            </a:r>
            <a:r>
              <a:rPr lang="en-IN" sz="1800" b="1" dirty="0">
                <a:latin typeface="Times New Roman" panose="02020603050405020304" pitchFamily="18" charset="0"/>
                <a:cs typeface="Times New Roman" panose="02020603050405020304" pitchFamily="18" charset="0"/>
              </a:rPr>
              <a:t> Mailer</a:t>
            </a:r>
          </a:p>
          <a:p>
            <a:pPr marL="0" indent="0">
              <a:buNone/>
            </a:pPr>
            <a:endParaRPr lang="en-IN" sz="2000" dirty="0"/>
          </a:p>
        </p:txBody>
      </p:sp>
      <p:sp>
        <p:nvSpPr>
          <p:cNvPr id="4" name="Date Placeholder 3">
            <a:extLst>
              <a:ext uri="{FF2B5EF4-FFF2-40B4-BE49-F238E27FC236}">
                <a16:creationId xmlns:a16="http://schemas.microsoft.com/office/drawing/2014/main" id="{481D12BB-ED07-F190-DAFF-5641EE269D18}"/>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9F1FF48C-A1BB-FC23-3489-43164B6FCA37}"/>
              </a:ext>
            </a:extLst>
          </p:cNvPr>
          <p:cNvSpPr>
            <a:spLocks noGrp="1"/>
          </p:cNvSpPr>
          <p:nvPr>
            <p:ph type="sldNum" sz="quarter" idx="12"/>
          </p:nvPr>
        </p:nvSpPr>
        <p:spPr/>
        <p:txBody>
          <a:bodyPr/>
          <a:lstStyle/>
          <a:p>
            <a:fld id="{EB192726-063F-4B8D-A6E6-A84087823C18}" type="slidenum">
              <a:rPr lang="en-IN" smtClean="0"/>
              <a:t>12</a:t>
            </a:fld>
            <a:endParaRPr lang="en-IN"/>
          </a:p>
        </p:txBody>
      </p:sp>
      <p:pic>
        <p:nvPicPr>
          <p:cNvPr id="6" name="Picture 5">
            <a:extLst>
              <a:ext uri="{FF2B5EF4-FFF2-40B4-BE49-F238E27FC236}">
                <a16:creationId xmlns:a16="http://schemas.microsoft.com/office/drawing/2014/main" id="{7D50E983-AB80-95DE-5D04-36E649591D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7" name="Rectangle 1">
            <a:extLst>
              <a:ext uri="{FF2B5EF4-FFF2-40B4-BE49-F238E27FC236}">
                <a16:creationId xmlns:a16="http://schemas.microsoft.com/office/drawing/2014/main" id="{98328019-55CB-372D-AEBC-48CB57E5BBF0}"/>
              </a:ext>
            </a:extLst>
          </p:cNvPr>
          <p:cNvSpPr>
            <a:spLocks noChangeArrowheads="1"/>
          </p:cNvSpPr>
          <p:nvPr/>
        </p:nvSpPr>
        <p:spPr bwMode="auto">
          <a:xfrm>
            <a:off x="374904" y="2832748"/>
            <a:ext cx="5398657" cy="1704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PHP server to host phishing pages</a:t>
            </a: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Captures credentials through HTML form submission</a:t>
            </a: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tunneling services like Cloudflared</a:t>
            </a: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A88A13E1-D2E8-E10A-1870-B16454A4C922}"/>
              </a:ext>
            </a:extLst>
          </p:cNvPr>
          <p:cNvSpPr>
            <a:spLocks noChangeArrowheads="1"/>
          </p:cNvSpPr>
          <p:nvPr/>
        </p:nvSpPr>
        <p:spPr bwMode="auto">
          <a:xfrm rot="10800000" flipV="1">
            <a:off x="374904" y="4471898"/>
            <a:ext cx="11650532" cy="1289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Demonstrates SMTP sender spoofing</a:t>
            </a: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weakness in email authentication systems</a:t>
            </a: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43905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647684"/>
            <a:ext cx="10515600" cy="570790"/>
          </a:xfrm>
        </p:spPr>
        <p:txBody>
          <a:bodyPr>
            <a:normAutofit fontScale="90000"/>
          </a:bodyPr>
          <a:lstStyle/>
          <a:p>
            <a:r>
              <a:rPr lang="en-IN" b="1" dirty="0">
                <a:latin typeface="Times New Roman" panose="02020603050405020304" pitchFamily="18" charset="0"/>
                <a:cs typeface="Times New Roman" panose="02020603050405020304" pitchFamily="18" charset="0"/>
              </a:rPr>
              <a:t>Example of a Masked Link</a:t>
            </a:r>
          </a:p>
        </p:txBody>
      </p:sp>
      <p:sp>
        <p:nvSpPr>
          <p:cNvPr id="3" name="Content Placeholder 2"/>
          <p:cNvSpPr>
            <a:spLocks noGrp="1"/>
          </p:cNvSpPr>
          <p:nvPr>
            <p:ph idx="1"/>
          </p:nvPr>
        </p:nvSpPr>
        <p:spPr>
          <a:xfrm>
            <a:off x="236668" y="1437680"/>
            <a:ext cx="11650532" cy="4918670"/>
          </a:xfrm>
        </p:spPr>
        <p:txBody>
          <a:bodyPr/>
          <a:lstStyle/>
          <a:p>
            <a:r>
              <a:rPr lang="en-IN" sz="2000" b="1" dirty="0">
                <a:latin typeface="Times New Roman" panose="02020603050405020304" pitchFamily="18" charset="0"/>
                <a:cs typeface="Times New Roman" panose="02020603050405020304" pitchFamily="18" charset="0"/>
              </a:rPr>
              <a:t>Displayed Link:</a:t>
            </a:r>
          </a:p>
          <a:p>
            <a:pPr marL="0" indent="0">
              <a:buNone/>
            </a:pPr>
            <a:r>
              <a:rPr lang="en-IN"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https://instagram-security-help.com </a:t>
            </a:r>
          </a:p>
          <a:p>
            <a:r>
              <a:rPr lang="en-IN" sz="2000" b="1" dirty="0">
                <a:latin typeface="Times New Roman" panose="02020603050405020304" pitchFamily="18" charset="0"/>
                <a:cs typeface="Times New Roman" panose="02020603050405020304" pitchFamily="18" charset="0"/>
              </a:rPr>
              <a:t>Actual Destination:</a:t>
            </a:r>
          </a:p>
          <a:p>
            <a:pPr marL="0" indent="0">
              <a:buNone/>
            </a:pPr>
            <a:r>
              <a:rPr lang="en-IN"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http://instagrarn-security-help.com   </a:t>
            </a:r>
          </a:p>
          <a:p>
            <a:r>
              <a:rPr lang="en-IN" sz="2000" b="1" dirty="0">
                <a:latin typeface="Times New Roman" panose="02020603050405020304" pitchFamily="18" charset="0"/>
                <a:cs typeface="Times New Roman" panose="02020603050405020304" pitchFamily="18" charset="0"/>
              </a:rPr>
              <a:t>Observation:</a:t>
            </a:r>
          </a:p>
          <a:p>
            <a:pPr marL="514350" indent="-514350">
              <a:buFont typeface="+mj-lt"/>
              <a:buAutoNum type="arabicPeriod"/>
            </a:pPr>
            <a:r>
              <a:rPr lang="en-IN" sz="1800" dirty="0">
                <a:latin typeface="Times New Roman" panose="02020603050405020304" pitchFamily="18" charset="0"/>
                <a:cs typeface="Times New Roman" panose="02020603050405020304" pitchFamily="18" charset="0"/>
              </a:rPr>
              <a:t>User only sees the displayed text. </a:t>
            </a:r>
          </a:p>
          <a:p>
            <a:pPr marL="514350" indent="-514350">
              <a:buFont typeface="+mj-lt"/>
              <a:buAutoNum type="arabicPeriod"/>
            </a:pPr>
            <a:r>
              <a:rPr lang="en-IN" sz="1800" dirty="0">
                <a:latin typeface="Times New Roman" panose="02020603050405020304" pitchFamily="18" charset="0"/>
                <a:cs typeface="Times New Roman" panose="02020603050405020304" pitchFamily="18" charset="0"/>
              </a:rPr>
              <a:t>Hidden URL redirects to attacker website. </a:t>
            </a:r>
          </a:p>
          <a:p>
            <a:pPr marL="514350" indent="-514350">
              <a:buFont typeface="+mj-lt"/>
              <a:buAutoNum type="arabicPeriod"/>
            </a:pPr>
            <a:r>
              <a:rPr lang="en-IN" sz="1800" dirty="0">
                <a:latin typeface="Times New Roman" panose="02020603050405020304" pitchFamily="18" charset="0"/>
                <a:cs typeface="Times New Roman" panose="02020603050405020304" pitchFamily="18" charset="0"/>
              </a:rPr>
              <a:t>Small spelling changes are difficult to notice.</a:t>
            </a:r>
          </a:p>
          <a:p>
            <a:pPr marL="0" indent="0">
              <a:buNone/>
            </a:pPr>
            <a:endParaRPr lang="en-IN" dirty="0"/>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13</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pic>
        <p:nvPicPr>
          <p:cNvPr id="8" name="Picture 7">
            <a:extLst>
              <a:ext uri="{FF2B5EF4-FFF2-40B4-BE49-F238E27FC236}">
                <a16:creationId xmlns:a16="http://schemas.microsoft.com/office/drawing/2014/main" id="{D106BE41-7ED4-AD41-FA28-F2DA2E26A6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1150" y="1866158"/>
            <a:ext cx="5081626" cy="2382012"/>
          </a:xfrm>
          <a:prstGeom prst="rect">
            <a:avLst/>
          </a:prstGeom>
        </p:spPr>
      </p:pic>
      <p:cxnSp>
        <p:nvCxnSpPr>
          <p:cNvPr id="10" name="Straight Arrow Connector 9">
            <a:extLst>
              <a:ext uri="{FF2B5EF4-FFF2-40B4-BE49-F238E27FC236}">
                <a16:creationId xmlns:a16="http://schemas.microsoft.com/office/drawing/2014/main" id="{57A36BEB-C508-2325-1436-3CCEA74CAEB4}"/>
              </a:ext>
            </a:extLst>
          </p:cNvPr>
          <p:cNvCxnSpPr>
            <a:cxnSpLocks/>
            <a:stCxn id="13" idx="2"/>
          </p:cNvCxnSpPr>
          <p:nvPr/>
        </p:nvCxnSpPr>
        <p:spPr>
          <a:xfrm flipH="1">
            <a:off x="2708148" y="2441448"/>
            <a:ext cx="1871920" cy="4480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Oval 12">
            <a:extLst>
              <a:ext uri="{FF2B5EF4-FFF2-40B4-BE49-F238E27FC236}">
                <a16:creationId xmlns:a16="http://schemas.microsoft.com/office/drawing/2014/main" id="{096F5609-C804-F032-02D4-93FBE1FCEC1B}"/>
              </a:ext>
            </a:extLst>
          </p:cNvPr>
          <p:cNvSpPr/>
          <p:nvPr/>
        </p:nvSpPr>
        <p:spPr>
          <a:xfrm>
            <a:off x="4580068" y="1984248"/>
            <a:ext cx="1390964" cy="9144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sp>
        <p:nvSpPr>
          <p:cNvPr id="14" name="TextBox 13">
            <a:extLst>
              <a:ext uri="{FF2B5EF4-FFF2-40B4-BE49-F238E27FC236}">
                <a16:creationId xmlns:a16="http://schemas.microsoft.com/office/drawing/2014/main" id="{2A06BEBB-CA81-4B22-F2E7-DF75A512C861}"/>
              </a:ext>
            </a:extLst>
          </p:cNvPr>
          <p:cNvSpPr txBox="1"/>
          <p:nvPr/>
        </p:nvSpPr>
        <p:spPr>
          <a:xfrm>
            <a:off x="4787471" y="2256782"/>
            <a:ext cx="918385" cy="369332"/>
          </a:xfrm>
          <a:prstGeom prst="rect">
            <a:avLst/>
          </a:prstGeom>
          <a:noFill/>
        </p:spPr>
        <p:txBody>
          <a:bodyPr wrap="square" rtlCol="0">
            <a:spAutoFit/>
          </a:bodyPr>
          <a:lstStyle/>
          <a:p>
            <a:r>
              <a:rPr lang="en-US" dirty="0"/>
              <a:t>rn = m</a:t>
            </a:r>
            <a:endParaRPr lang="LID4096" dirty="0"/>
          </a:p>
        </p:txBody>
      </p:sp>
    </p:spTree>
    <p:extLst>
      <p:ext uri="{BB962C8B-B14F-4D97-AF65-F5344CB8AC3E}">
        <p14:creationId xmlns:p14="http://schemas.microsoft.com/office/powerpoint/2010/main" val="215156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21F4618-78C5-08F5-90CF-A5923C353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FC102-DB76-C3CD-345B-3ADD1C5B32EF}"/>
              </a:ext>
            </a:extLst>
          </p:cNvPr>
          <p:cNvSpPr>
            <a:spLocks noGrp="1"/>
          </p:cNvSpPr>
          <p:nvPr>
            <p:ph type="title"/>
          </p:nvPr>
        </p:nvSpPr>
        <p:spPr>
          <a:xfrm>
            <a:off x="236668" y="866890"/>
            <a:ext cx="10515600" cy="570790"/>
          </a:xfrm>
        </p:spPr>
        <p:txBody>
          <a:bodyPr>
            <a:normAutofit fontScale="90000"/>
          </a:bodyPr>
          <a:lstStyle/>
          <a:p>
            <a:r>
              <a:rPr lang="en-IN" b="1" dirty="0">
                <a:latin typeface="Times New Roman" panose="02020603050405020304" pitchFamily="18" charset="0"/>
                <a:cs typeface="Times New Roman" panose="02020603050405020304" pitchFamily="18" charset="0"/>
              </a:rPr>
              <a:t>Impact of Credential Theft</a:t>
            </a:r>
            <a:br>
              <a:rPr lang="en-IN" b="1" dirty="0"/>
            </a:br>
            <a:endParaRPr lang="en-IN" b="1" dirty="0"/>
          </a:p>
        </p:txBody>
      </p:sp>
      <p:sp>
        <p:nvSpPr>
          <p:cNvPr id="3" name="Content Placeholder 2">
            <a:extLst>
              <a:ext uri="{FF2B5EF4-FFF2-40B4-BE49-F238E27FC236}">
                <a16:creationId xmlns:a16="http://schemas.microsoft.com/office/drawing/2014/main" id="{DEB78616-0211-05DE-D45B-BBACD818A8F7}"/>
              </a:ext>
            </a:extLst>
          </p:cNvPr>
          <p:cNvSpPr>
            <a:spLocks noGrp="1"/>
          </p:cNvSpPr>
          <p:nvPr>
            <p:ph idx="1"/>
          </p:nvPr>
        </p:nvSpPr>
        <p:spPr>
          <a:xfrm>
            <a:off x="236668" y="1437680"/>
            <a:ext cx="11650532" cy="4918670"/>
          </a:xfrm>
        </p:spPr>
        <p:txBody>
          <a:bodyPr/>
          <a:lstStyle/>
          <a:p>
            <a:endParaRPr lang="en-IN" dirty="0"/>
          </a:p>
          <a:p>
            <a:r>
              <a:rPr lang="en-IN" sz="2400" dirty="0">
                <a:latin typeface="Times New Roman" panose="02020603050405020304" pitchFamily="18" charset="0"/>
                <a:cs typeface="Times New Roman" panose="02020603050405020304" pitchFamily="18" charset="0"/>
              </a:rPr>
              <a:t>Unauthorized access to social media accounts. </a:t>
            </a:r>
          </a:p>
          <a:p>
            <a:r>
              <a:rPr lang="en-IN" sz="2400" dirty="0">
                <a:latin typeface="Times New Roman" panose="02020603050405020304" pitchFamily="18" charset="0"/>
                <a:cs typeface="Times New Roman" panose="02020603050405020304" pitchFamily="18" charset="0"/>
              </a:rPr>
              <a:t>Identity theft and impersonation .</a:t>
            </a:r>
          </a:p>
          <a:p>
            <a:r>
              <a:rPr lang="en-IN" sz="2400" dirty="0">
                <a:latin typeface="Times New Roman" panose="02020603050405020304" pitchFamily="18" charset="0"/>
                <a:cs typeface="Times New Roman" panose="02020603050405020304" pitchFamily="18" charset="0"/>
              </a:rPr>
              <a:t>Financial scams using compromised accounts. </a:t>
            </a:r>
          </a:p>
          <a:p>
            <a:r>
              <a:rPr lang="en-IN" sz="2400" dirty="0">
                <a:latin typeface="Times New Roman" panose="02020603050405020304" pitchFamily="18" charset="0"/>
                <a:cs typeface="Times New Roman" panose="02020603050405020304" pitchFamily="18" charset="0"/>
              </a:rPr>
              <a:t>Privacy breaches involving chats and personal data. </a:t>
            </a:r>
          </a:p>
          <a:p>
            <a:r>
              <a:rPr lang="en-IN" sz="2400" dirty="0">
                <a:latin typeface="Times New Roman" panose="02020603050405020304" pitchFamily="18" charset="0"/>
                <a:cs typeface="Times New Roman" panose="02020603050405020304" pitchFamily="18" charset="0"/>
              </a:rPr>
              <a:t>Malware spreading through hacked accounts .</a:t>
            </a:r>
          </a:p>
          <a:p>
            <a:r>
              <a:rPr lang="en-IN" sz="2400" dirty="0">
                <a:latin typeface="Times New Roman" panose="02020603050405020304" pitchFamily="18" charset="0"/>
                <a:cs typeface="Times New Roman" panose="02020603050405020304" pitchFamily="18" charset="0"/>
              </a:rPr>
              <a:t>Reputation damage for victims .</a:t>
            </a:r>
          </a:p>
          <a:p>
            <a:pPr marL="0" indent="0">
              <a:buNone/>
            </a:pPr>
            <a:endParaRPr lang="en-IN" dirty="0"/>
          </a:p>
        </p:txBody>
      </p:sp>
      <p:sp>
        <p:nvSpPr>
          <p:cNvPr id="4" name="Date Placeholder 3">
            <a:extLst>
              <a:ext uri="{FF2B5EF4-FFF2-40B4-BE49-F238E27FC236}">
                <a16:creationId xmlns:a16="http://schemas.microsoft.com/office/drawing/2014/main" id="{66A385D8-6780-8F35-8965-451A1B4A3C90}"/>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3BA2E3D5-A368-CB86-DF32-26FCFFA59301}"/>
              </a:ext>
            </a:extLst>
          </p:cNvPr>
          <p:cNvSpPr>
            <a:spLocks noGrp="1"/>
          </p:cNvSpPr>
          <p:nvPr>
            <p:ph type="sldNum" sz="quarter" idx="12"/>
          </p:nvPr>
        </p:nvSpPr>
        <p:spPr/>
        <p:txBody>
          <a:bodyPr/>
          <a:lstStyle/>
          <a:p>
            <a:fld id="{EB192726-063F-4B8D-A6E6-A84087823C18}" type="slidenum">
              <a:rPr lang="en-IN" smtClean="0"/>
              <a:t>14</a:t>
            </a:fld>
            <a:endParaRPr lang="en-IN"/>
          </a:p>
        </p:txBody>
      </p:sp>
      <p:pic>
        <p:nvPicPr>
          <p:cNvPr id="6" name="Picture 5">
            <a:extLst>
              <a:ext uri="{FF2B5EF4-FFF2-40B4-BE49-F238E27FC236}">
                <a16:creationId xmlns:a16="http://schemas.microsoft.com/office/drawing/2014/main" id="{7068C64B-80AA-41B8-3172-69E2B96C1C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3859804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CA38BEE-0403-F2ED-9F75-26E23C5E3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71F46-1143-2269-7C44-431F52DE5FC9}"/>
              </a:ext>
            </a:extLst>
          </p:cNvPr>
          <p:cNvSpPr>
            <a:spLocks noGrp="1"/>
          </p:cNvSpPr>
          <p:nvPr>
            <p:ph type="title"/>
          </p:nvPr>
        </p:nvSpPr>
        <p:spPr>
          <a:xfrm>
            <a:off x="236668" y="659428"/>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Prevention 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76BE67-C47C-8D3C-1615-A18A6D58BF6F}"/>
              </a:ext>
            </a:extLst>
          </p:cNvPr>
          <p:cNvSpPr>
            <a:spLocks noGrp="1"/>
          </p:cNvSpPr>
          <p:nvPr>
            <p:ph idx="1"/>
          </p:nvPr>
        </p:nvSpPr>
        <p:spPr>
          <a:xfrm>
            <a:off x="236668" y="1437680"/>
            <a:ext cx="11650532" cy="4918670"/>
          </a:xfrm>
        </p:spPr>
        <p:txBody>
          <a:bodyPr>
            <a:normAutofit lnSpcReduction="10000"/>
          </a:bodyPr>
          <a:lstStyle/>
          <a:p>
            <a:pPr marL="0" indent="0">
              <a:buNone/>
            </a:pPr>
            <a:r>
              <a:rPr lang="en-US" sz="2200" b="1" dirty="0">
                <a:latin typeface="Times New Roman" panose="02020603050405020304" pitchFamily="18" charset="0"/>
                <a:cs typeface="Times New Roman" panose="02020603050405020304" pitchFamily="18" charset="0"/>
              </a:rPr>
              <a:t>User-Level Prevention</a:t>
            </a:r>
          </a:p>
          <a:p>
            <a:pPr marL="571500" indent="-571500">
              <a:buFont typeface="+mj-lt"/>
              <a:buAutoNum type="romanLcPeriod"/>
            </a:pPr>
            <a:r>
              <a:rPr lang="en-US" sz="1900" dirty="0">
                <a:latin typeface="Times New Roman" panose="02020603050405020304" pitchFamily="18" charset="0"/>
                <a:cs typeface="Times New Roman" panose="02020603050405020304" pitchFamily="18" charset="0"/>
              </a:rPr>
              <a:t>Verify sender email addresses carefully. </a:t>
            </a:r>
          </a:p>
          <a:p>
            <a:pPr marL="571500" indent="-571500">
              <a:buFont typeface="+mj-lt"/>
              <a:buAutoNum type="romanLcPeriod"/>
            </a:pPr>
            <a:r>
              <a:rPr lang="en-US" sz="1900" dirty="0">
                <a:latin typeface="Times New Roman" panose="02020603050405020304" pitchFamily="18" charset="0"/>
                <a:cs typeface="Times New Roman" panose="02020603050405020304" pitchFamily="18" charset="0"/>
              </a:rPr>
              <a:t>Hover over links before clicking. </a:t>
            </a:r>
          </a:p>
          <a:p>
            <a:pPr marL="571500" indent="-571500">
              <a:buFont typeface="+mj-lt"/>
              <a:buAutoNum type="romanLcPeriod"/>
            </a:pPr>
            <a:r>
              <a:rPr lang="en-US" sz="1900" dirty="0">
                <a:latin typeface="Times New Roman" panose="02020603050405020304" pitchFamily="18" charset="0"/>
                <a:cs typeface="Times New Roman" panose="02020603050405020304" pitchFamily="18" charset="0"/>
              </a:rPr>
              <a:t>Avoid logging in through email links. </a:t>
            </a:r>
          </a:p>
          <a:p>
            <a:pPr marL="571500" indent="-571500">
              <a:buFont typeface="+mj-lt"/>
              <a:buAutoNum type="romanLcPeriod"/>
            </a:pPr>
            <a:r>
              <a:rPr lang="en-US" sz="1900" dirty="0">
                <a:latin typeface="Times New Roman" panose="02020603050405020304" pitchFamily="18" charset="0"/>
                <a:cs typeface="Times New Roman" panose="02020603050405020304" pitchFamily="18" charset="0"/>
              </a:rPr>
              <a:t>Enable Multi-Factor Authentication (MFA). </a:t>
            </a:r>
          </a:p>
          <a:p>
            <a:pPr marL="571500" indent="-571500">
              <a:buFont typeface="+mj-lt"/>
              <a:buAutoNum type="romanLcPeriod"/>
            </a:pPr>
            <a:r>
              <a:rPr lang="en-US" sz="1900" dirty="0">
                <a:latin typeface="Times New Roman" panose="02020603050405020304" pitchFamily="18" charset="0"/>
                <a:cs typeface="Times New Roman" panose="02020603050405020304" pitchFamily="18" charset="0"/>
              </a:rPr>
              <a:t>Use strong and unique passwords. </a:t>
            </a: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Technical Prevention</a:t>
            </a:r>
          </a:p>
          <a:p>
            <a:pPr marL="400050" indent="-400050">
              <a:buFont typeface="+mj-lt"/>
              <a:buAutoNum type="romanLcPeriod"/>
            </a:pPr>
            <a:r>
              <a:rPr lang="en-US" sz="1800" dirty="0">
                <a:latin typeface="Times New Roman" panose="02020603050405020304" pitchFamily="18" charset="0"/>
                <a:cs typeface="Times New Roman" panose="02020603050405020304" pitchFamily="18" charset="0"/>
              </a:rPr>
              <a:t>AI-based phishing detection</a:t>
            </a:r>
          </a:p>
          <a:p>
            <a:pPr marL="400050" indent="-400050">
              <a:buFont typeface="+mj-lt"/>
              <a:buAutoNum type="romanLcPeriod"/>
            </a:pPr>
            <a:r>
              <a:rPr lang="en-US" sz="1800" dirty="0">
                <a:latin typeface="Times New Roman" panose="02020603050405020304" pitchFamily="18" charset="0"/>
                <a:cs typeface="Times New Roman" panose="02020603050405020304" pitchFamily="18" charset="0"/>
              </a:rPr>
              <a:t>Heuristic URL analysis</a:t>
            </a:r>
          </a:p>
          <a:p>
            <a:pPr marL="400050" indent="-400050">
              <a:buFont typeface="+mj-lt"/>
              <a:buAutoNum type="romanLcPeriod"/>
            </a:pPr>
            <a:r>
              <a:rPr lang="en-US" sz="1800" dirty="0">
                <a:latin typeface="Times New Roman" panose="02020603050405020304" pitchFamily="18" charset="0"/>
                <a:cs typeface="Times New Roman" panose="02020603050405020304" pitchFamily="18" charset="0"/>
              </a:rPr>
              <a:t>Threat intelligence feeds</a:t>
            </a:r>
          </a:p>
          <a:p>
            <a:pPr marL="400050" indent="-400050">
              <a:buFont typeface="+mj-lt"/>
              <a:buAutoNum type="romanLcPeriod"/>
            </a:pPr>
            <a:r>
              <a:rPr lang="en-US" sz="1800" dirty="0">
                <a:latin typeface="Times New Roman" panose="02020603050405020304" pitchFamily="18" charset="0"/>
                <a:cs typeface="Times New Roman" panose="02020603050405020304" pitchFamily="18" charset="0"/>
              </a:rPr>
              <a:t>Browser reputation systems</a:t>
            </a:r>
          </a:p>
          <a:p>
            <a:pPr marL="400050" indent="-400050">
              <a:buFont typeface="+mj-lt"/>
              <a:buAutoNum type="romanLcPeriod"/>
            </a:pPr>
            <a:r>
              <a:rPr lang="en-US" sz="1800" dirty="0">
                <a:latin typeface="Times New Roman" panose="02020603050405020304" pitchFamily="18" charset="0"/>
                <a:cs typeface="Times New Roman" panose="02020603050405020304" pitchFamily="18" charset="0"/>
              </a:rPr>
              <a:t>Sandboxing suspicious links</a:t>
            </a:r>
          </a:p>
          <a:p>
            <a:pPr marL="0" indent="0">
              <a:buNone/>
            </a:pPr>
            <a:endParaRPr lang="en-IN" dirty="0"/>
          </a:p>
        </p:txBody>
      </p:sp>
      <p:sp>
        <p:nvSpPr>
          <p:cNvPr id="4" name="Date Placeholder 3">
            <a:extLst>
              <a:ext uri="{FF2B5EF4-FFF2-40B4-BE49-F238E27FC236}">
                <a16:creationId xmlns:a16="http://schemas.microsoft.com/office/drawing/2014/main" id="{72E8D6D0-3ADC-2859-27DA-3E34E4A8EBFB}"/>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A0FE2BD4-EE1A-D9C6-249D-1B32E6107CAA}"/>
              </a:ext>
            </a:extLst>
          </p:cNvPr>
          <p:cNvSpPr>
            <a:spLocks noGrp="1"/>
          </p:cNvSpPr>
          <p:nvPr>
            <p:ph type="sldNum" sz="quarter" idx="12"/>
          </p:nvPr>
        </p:nvSpPr>
        <p:spPr/>
        <p:txBody>
          <a:bodyPr/>
          <a:lstStyle/>
          <a:p>
            <a:fld id="{EB192726-063F-4B8D-A6E6-A84087823C18}" type="slidenum">
              <a:rPr lang="en-IN" smtClean="0"/>
              <a:t>15</a:t>
            </a:fld>
            <a:endParaRPr lang="en-IN"/>
          </a:p>
        </p:txBody>
      </p:sp>
      <p:pic>
        <p:nvPicPr>
          <p:cNvPr id="6" name="Picture 5">
            <a:extLst>
              <a:ext uri="{FF2B5EF4-FFF2-40B4-BE49-F238E27FC236}">
                <a16:creationId xmlns:a16="http://schemas.microsoft.com/office/drawing/2014/main" id="{76454D64-EBB4-6FE6-EBCB-C4F8AC4C6C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312374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586311"/>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Best Security Practices</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IN" dirty="0"/>
              <a:t>23-05-2026</a:t>
            </a:r>
          </a:p>
        </p:txBody>
      </p:sp>
      <p:sp>
        <p:nvSpPr>
          <p:cNvPr id="5" name="Slide Number Placeholder 4"/>
          <p:cNvSpPr>
            <a:spLocks noGrp="1"/>
          </p:cNvSpPr>
          <p:nvPr>
            <p:ph type="sldNum" sz="quarter" idx="12"/>
          </p:nvPr>
        </p:nvSpPr>
        <p:spPr/>
        <p:txBody>
          <a:bodyPr/>
          <a:lstStyle/>
          <a:p>
            <a:fld id="{EB192726-063F-4B8D-A6E6-A84087823C18}" type="slidenum">
              <a:rPr lang="en-IN" smtClean="0"/>
              <a:t>16</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7" name="Rectangle 1">
            <a:extLst>
              <a:ext uri="{FF2B5EF4-FFF2-40B4-BE49-F238E27FC236}">
                <a16:creationId xmlns:a16="http://schemas.microsoft.com/office/drawing/2014/main" id="{30DEA3ED-296D-7F02-0392-2146A3F5E51C}"/>
              </a:ext>
            </a:extLst>
          </p:cNvPr>
          <p:cNvSpPr>
            <a:spLocks noGrp="1" noChangeArrowheads="1"/>
          </p:cNvSpPr>
          <p:nvPr>
            <p:ph idx="1"/>
          </p:nvPr>
        </p:nvSpPr>
        <p:spPr bwMode="auto">
          <a:xfrm>
            <a:off x="236668" y="1054269"/>
            <a:ext cx="9070848" cy="5484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password managers </a:t>
            </a:r>
            <a:r>
              <a:rPr lang="en-US" altLang="LID4096" sz="1800" b="1" dirty="0">
                <a:latin typeface="Times New Roman" panose="02020603050405020304" pitchFamily="18" charset="0"/>
                <a:cs typeface="Times New Roman" panose="02020603050405020304" pitchFamily="18" charset="0"/>
              </a:rPr>
              <a:t>– </a:t>
            </a:r>
            <a:endParaRPr kumimoji="0" lang="en-US"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lang="en-US" altLang="LID4096" sz="2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Password managers generate and securely store strong unique passwords for different accounts.</a:t>
            </a: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Regularly update passwords</a:t>
            </a:r>
            <a:r>
              <a:rPr lang="en-US" altLang="LID4096" sz="1800" b="1" dirty="0">
                <a:latin typeface="Times New Roman" panose="02020603050405020304" pitchFamily="18" charset="0"/>
                <a:cs typeface="Times New Roman" panose="02020603050405020304" pitchFamily="18" charset="0"/>
              </a:rPr>
              <a:t> –</a:t>
            </a:r>
          </a:p>
          <a:p>
            <a:pPr marL="0" lvl="0" indent="0" eaLnBrk="0" fontAlgn="base" hangingPunct="0">
              <a:lnSpc>
                <a:spcPct val="150000"/>
              </a:lnSpc>
              <a:spcBef>
                <a:spcPct val="0"/>
              </a:spcBef>
              <a:spcAft>
                <a:spcPct val="0"/>
              </a:spcAft>
              <a:buNone/>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Changing passwords frequently reduces the risk of long-term account compromise.</a:t>
            </a:r>
            <a:r>
              <a:rPr kumimoji="0" lang="LID4096" altLang="LID4096"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LID4096"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login alerts </a:t>
            </a:r>
            <a:r>
              <a:rPr kumimoji="0" lang="en-US"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lvl="0" indent="0" eaLnBrk="0" fontAlgn="base" hangingPunct="0">
              <a:lnSpc>
                <a:spcPct val="150000"/>
              </a:lnSpc>
              <a:spcBef>
                <a:spcPct val="0"/>
              </a:spcBef>
              <a:spcAft>
                <a:spcPct val="0"/>
              </a:spcAft>
              <a:buNone/>
            </a:pPr>
            <a:r>
              <a:rPr lang="en-US" altLang="LID4096" sz="2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Login notifications help users quickly detect unauthorized account access attempts.</a:t>
            </a:r>
            <a:endParaRPr kumimoji="0" lang="LID4096" altLang="LID4096"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public Wi-Fi for sensitive logins </a:t>
            </a:r>
            <a:r>
              <a:rPr kumimoji="0" lang="en-US"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lvl="0" indent="0" eaLnBrk="0" fontAlgn="base" hangingPunct="0">
              <a:lnSpc>
                <a:spcPct val="150000"/>
              </a:lnSpc>
              <a:spcBef>
                <a:spcPct val="0"/>
              </a:spcBef>
              <a:spcAft>
                <a:spcPct val="0"/>
              </a:spcAft>
              <a:buNone/>
            </a:pPr>
            <a:r>
              <a:rPr lang="en-US" altLang="LID4096" sz="2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Public networks are vulnerable to interception and cyberattacks.</a:t>
            </a:r>
            <a:endParaRPr kumimoji="0" lang="LID4096" altLang="LID4096"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browsers and systems updated </a:t>
            </a:r>
            <a:r>
              <a:rPr kumimoji="0" lang="en-US"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LID4096"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lang="en-US" altLang="LID4096" sz="2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Software updates patch security vulnerabilities that attackers may exploit.</a:t>
            </a:r>
            <a:endParaRPr kumimoji="0" lang="LID4096" altLang="LID4096"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cybersecurity awareness training </a:t>
            </a:r>
            <a:r>
              <a:rPr kumimoji="0" lang="en-US" altLang="LID4096"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LID4096"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r>
              <a:rPr lang="en-US" altLang="LID4096" sz="2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User awareness training helps individuals identify and avoid phishing attacks.</a:t>
            </a:r>
            <a:endParaRPr kumimoji="0" lang="LID4096" altLang="LID4096"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986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F8B2C1B-AB4F-BBAA-4FE3-B03034185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0CF45-54F9-F107-7957-36A1B4E16EB9}"/>
              </a:ext>
            </a:extLst>
          </p:cNvPr>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Conclusion</a:t>
            </a:r>
            <a:endParaRPr lang="en-IN" b="1" dirty="0"/>
          </a:p>
        </p:txBody>
      </p:sp>
      <p:sp>
        <p:nvSpPr>
          <p:cNvPr id="4" name="Date Placeholder 3">
            <a:extLst>
              <a:ext uri="{FF2B5EF4-FFF2-40B4-BE49-F238E27FC236}">
                <a16:creationId xmlns:a16="http://schemas.microsoft.com/office/drawing/2014/main" id="{FDC97A1D-CA5F-7D00-8528-F18C310676F4}"/>
              </a:ext>
            </a:extLst>
          </p:cNvPr>
          <p:cNvSpPr>
            <a:spLocks noGrp="1"/>
          </p:cNvSpPr>
          <p:nvPr>
            <p:ph type="dt" sz="half" idx="10"/>
          </p:nvPr>
        </p:nvSpPr>
        <p:spPr/>
        <p:txBody>
          <a:bodyPr/>
          <a:lstStyle/>
          <a:p>
            <a:r>
              <a:rPr lang="en-IN" dirty="0"/>
              <a:t>23-05-2026</a:t>
            </a:r>
          </a:p>
          <a:p>
            <a:endParaRPr lang="en-IN" dirty="0"/>
          </a:p>
        </p:txBody>
      </p:sp>
      <p:sp>
        <p:nvSpPr>
          <p:cNvPr id="5" name="Slide Number Placeholder 4">
            <a:extLst>
              <a:ext uri="{FF2B5EF4-FFF2-40B4-BE49-F238E27FC236}">
                <a16:creationId xmlns:a16="http://schemas.microsoft.com/office/drawing/2014/main" id="{52D096D1-B4BF-EC74-1F2F-51C438E74FD0}"/>
              </a:ext>
            </a:extLst>
          </p:cNvPr>
          <p:cNvSpPr>
            <a:spLocks noGrp="1"/>
          </p:cNvSpPr>
          <p:nvPr>
            <p:ph type="sldNum" sz="quarter" idx="12"/>
          </p:nvPr>
        </p:nvSpPr>
        <p:spPr/>
        <p:txBody>
          <a:bodyPr/>
          <a:lstStyle/>
          <a:p>
            <a:fld id="{EB192726-063F-4B8D-A6E6-A84087823C18}" type="slidenum">
              <a:rPr lang="en-IN" smtClean="0"/>
              <a:t>17</a:t>
            </a:fld>
            <a:endParaRPr lang="en-IN"/>
          </a:p>
        </p:txBody>
      </p:sp>
      <p:pic>
        <p:nvPicPr>
          <p:cNvPr id="6" name="Picture 5">
            <a:extLst>
              <a:ext uri="{FF2B5EF4-FFF2-40B4-BE49-F238E27FC236}">
                <a16:creationId xmlns:a16="http://schemas.microsoft.com/office/drawing/2014/main" id="{053972F2-4D54-014E-B2C7-AE9F9E5791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7" name="Rectangle 1">
            <a:extLst>
              <a:ext uri="{FF2B5EF4-FFF2-40B4-BE49-F238E27FC236}">
                <a16:creationId xmlns:a16="http://schemas.microsoft.com/office/drawing/2014/main" id="{3C741649-BCEB-3F55-F482-7CEEE78CFA9B}"/>
              </a:ext>
            </a:extLst>
          </p:cNvPr>
          <p:cNvSpPr>
            <a:spLocks noGrp="1" noChangeArrowheads="1"/>
          </p:cNvSpPr>
          <p:nvPr>
            <p:ph idx="1"/>
          </p:nvPr>
        </p:nvSpPr>
        <p:spPr bwMode="auto">
          <a:xfrm>
            <a:off x="236668" y="1132532"/>
            <a:ext cx="10347705" cy="3353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Phishing attacks remain one of the biggest cybersecurity threats today.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Fake masked links are highly effective because they exploit human trust.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media accounts are frequent targets due to widespread usage.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awareness combined with technical security controls can significantly reduce phishing risks.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LID4096" altLang="LID4096"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Prevention through education is the strongest defense against phishing attacks. </a:t>
            </a:r>
          </a:p>
        </p:txBody>
      </p:sp>
    </p:spTree>
    <p:extLst>
      <p:ext uri="{BB962C8B-B14F-4D97-AF65-F5344CB8AC3E}">
        <p14:creationId xmlns:p14="http://schemas.microsoft.com/office/powerpoint/2010/main" val="2484602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668" y="647684"/>
            <a:ext cx="10515600" cy="570790"/>
          </a:xfrm>
        </p:spPr>
        <p:txBody>
          <a:bodyPr>
            <a:normAutofit fontScale="90000"/>
          </a:bodyPr>
          <a:lstStyle/>
          <a:p>
            <a:r>
              <a:rPr lang="en-US" b="1" dirty="0">
                <a:latin typeface="Times New Roman" panose="02020603050405020304" pitchFamily="18" charset="0"/>
                <a:cs typeface="Times New Roman" panose="02020603050405020304" pitchFamily="18" charset="0"/>
              </a:rPr>
              <a:t>References</a:t>
            </a:r>
            <a:endParaRPr lang="en-IN" b="1" dirty="0"/>
          </a:p>
        </p:txBody>
      </p:sp>
      <p:sp>
        <p:nvSpPr>
          <p:cNvPr id="4" name="Date Placeholder 3"/>
          <p:cNvSpPr>
            <a:spLocks noGrp="1"/>
          </p:cNvSpPr>
          <p:nvPr>
            <p:ph type="dt" sz="half" idx="10"/>
          </p:nvPr>
        </p:nvSpPr>
        <p:spPr/>
        <p:txBody>
          <a:bodyPr/>
          <a:lstStyle/>
          <a:p>
            <a:r>
              <a:rPr lang="en-IN" dirty="0"/>
              <a:t>23-05-2026</a:t>
            </a:r>
          </a:p>
          <a:p>
            <a:endParaRPr lang="en-IN" dirty="0"/>
          </a:p>
        </p:txBody>
      </p:sp>
      <p:sp>
        <p:nvSpPr>
          <p:cNvPr id="5" name="Slide Number Placeholder 4"/>
          <p:cNvSpPr>
            <a:spLocks noGrp="1"/>
          </p:cNvSpPr>
          <p:nvPr>
            <p:ph type="sldNum" sz="quarter" idx="12"/>
          </p:nvPr>
        </p:nvSpPr>
        <p:spPr/>
        <p:txBody>
          <a:bodyPr/>
          <a:lstStyle/>
          <a:p>
            <a:fld id="{EB192726-063F-4B8D-A6E6-A84087823C18}" type="slidenum">
              <a:rPr lang="en-IN" smtClean="0"/>
              <a:t>18</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
        <p:nvSpPr>
          <p:cNvPr id="8" name="Rectangle 2">
            <a:extLst>
              <a:ext uri="{FF2B5EF4-FFF2-40B4-BE49-F238E27FC236}">
                <a16:creationId xmlns:a16="http://schemas.microsoft.com/office/drawing/2014/main" id="{BB6A366D-161F-C2CB-8433-51EB1A70415B}"/>
              </a:ext>
            </a:extLst>
          </p:cNvPr>
          <p:cNvSpPr>
            <a:spLocks noGrp="1" noChangeArrowheads="1"/>
          </p:cNvSpPr>
          <p:nvPr>
            <p:ph idx="1"/>
          </p:nvPr>
        </p:nvSpPr>
        <p:spPr bwMode="auto">
          <a:xfrm>
            <a:off x="276244" y="1474040"/>
            <a:ext cx="1043644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Anti-Phishing Working Group (APWG), Phishing Activity Trends Report.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Google, Google Safe Browsing: Protecting Users from Dangerous Websites.</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National Institute of Standards and Technology (NIST), Cybersecurity Framework and Phishing Guidance.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Verizon, 2025 Data Breach Investigations Report (DBIR).</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Jain, A. K., and Gupta, B. B., “Towards Detection of Phishing Websites, Springer, 2018.</a:t>
            </a:r>
          </a:p>
          <a:p>
            <a:pPr marL="0" marR="0" lvl="0" indent="0" algn="l" defTabSz="914400" rtl="0" eaLnBrk="0" fontAlgn="base" latinLnBrk="0" hangingPunct="0">
              <a:lnSpc>
                <a:spcPct val="100000"/>
              </a:lnSpc>
              <a:spcBef>
                <a:spcPct val="0"/>
              </a:spcBef>
              <a:spcAft>
                <a:spcPct val="0"/>
              </a:spcAft>
              <a:buClrTx/>
              <a:buSzTx/>
              <a:buFontTx/>
              <a:buNone/>
              <a:tabLst/>
            </a:pPr>
            <a:r>
              <a:rPr kumimoji="0" lang="LID4096" altLang="LID4096"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IEEE Xplore Digital Library, Understanding Phishing Attacks and Countermeasures.</a:t>
            </a:r>
          </a:p>
        </p:txBody>
      </p:sp>
    </p:spTree>
    <p:extLst>
      <p:ext uri="{BB962C8B-B14F-4D97-AF65-F5344CB8AC3E}">
        <p14:creationId xmlns:p14="http://schemas.microsoft.com/office/powerpoint/2010/main" val="4201254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772728"/>
            <a:ext cx="10515600" cy="57079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Thank You</a:t>
            </a:r>
            <a:endParaRPr lang="en-IN" b="1" dirty="0"/>
          </a:p>
        </p:txBody>
      </p:sp>
      <p:sp>
        <p:nvSpPr>
          <p:cNvPr id="4" name="Date Placeholder 3"/>
          <p:cNvSpPr>
            <a:spLocks noGrp="1"/>
          </p:cNvSpPr>
          <p:nvPr>
            <p:ph type="dt" sz="half" idx="10"/>
          </p:nvPr>
        </p:nvSpPr>
        <p:spPr/>
        <p:txBody>
          <a:bodyPr/>
          <a:lstStyle/>
          <a:p>
            <a:fld id="{64932611-DD4C-4620-BABB-D54AAD220BDD}" type="datetime1">
              <a:rPr lang="en-IN" smtClean="0"/>
              <a:t>22-05-2026</a:t>
            </a:fld>
            <a:endParaRPr lang="en-IN"/>
          </a:p>
        </p:txBody>
      </p:sp>
      <p:sp>
        <p:nvSpPr>
          <p:cNvPr id="5" name="Slide Number Placeholder 4"/>
          <p:cNvSpPr>
            <a:spLocks noGrp="1"/>
          </p:cNvSpPr>
          <p:nvPr>
            <p:ph type="sldNum" sz="quarter" idx="12"/>
          </p:nvPr>
        </p:nvSpPr>
        <p:spPr/>
        <p:txBody>
          <a:bodyPr/>
          <a:lstStyle/>
          <a:p>
            <a:fld id="{EB192726-063F-4B8D-A6E6-A84087823C18}" type="slidenum">
              <a:rPr lang="en-IN" smtClean="0"/>
              <a:t>19</a:t>
            </a:fld>
            <a:endParaRPr lang="en-IN"/>
          </a:p>
        </p:txBody>
      </p:sp>
      <p:pic>
        <p:nvPicPr>
          <p:cNvPr id="6" name="Picture 5">
            <a:extLst>
              <a:ext uri="{FF2B5EF4-FFF2-40B4-BE49-F238E27FC236}">
                <a16:creationId xmlns:a16="http://schemas.microsoft.com/office/drawing/2014/main" id="{E1965D42-148A-7819-5DF2-B66C696D31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66" y="0"/>
            <a:ext cx="1598239" cy="659428"/>
          </a:xfrm>
          <a:prstGeom prst="rect">
            <a:avLst/>
          </a:prstGeom>
        </p:spPr>
      </p:pic>
    </p:spTree>
    <p:extLst>
      <p:ext uri="{BB962C8B-B14F-4D97-AF65-F5344CB8AC3E}">
        <p14:creationId xmlns:p14="http://schemas.microsoft.com/office/powerpoint/2010/main" val="2324690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888</TotalTime>
  <Words>1077</Words>
  <Application>Microsoft Office PowerPoint</Application>
  <PresentationFormat>Widescreen</PresentationFormat>
  <Paragraphs>197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Department of Master of Computer Applications</vt:lpstr>
      <vt:lpstr>Agenda</vt:lpstr>
      <vt:lpstr>Introduction</vt:lpstr>
      <vt:lpstr>Introduction</vt:lpstr>
      <vt:lpstr>Introduction</vt:lpstr>
      <vt:lpstr>Social Impact</vt:lpstr>
      <vt:lpstr>Social Impact</vt:lpstr>
      <vt:lpstr>Implementation</vt:lpstr>
      <vt:lpstr>Implementation – Technical Flow of Attack</vt:lpstr>
      <vt:lpstr>Implementation – Flow of attack</vt:lpstr>
      <vt:lpstr>Implementation – Tools Used</vt:lpstr>
      <vt:lpstr>Functionality of Tools used: </vt:lpstr>
      <vt:lpstr>Example of a Masked Link</vt:lpstr>
      <vt:lpstr>Impact of Credential Theft </vt:lpstr>
      <vt:lpstr>Prevention Techniques</vt:lpstr>
      <vt:lpstr>Best Security Practices</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Master of Computer Applications IV Semester, MCA Code:  MCAS1</dc:title>
  <dc:creator>admin</dc:creator>
  <cp:lastModifiedBy>Rohit Kulkarni</cp:lastModifiedBy>
  <cp:revision>8</cp:revision>
  <dcterms:created xsi:type="dcterms:W3CDTF">2026-04-23T07:02:10Z</dcterms:created>
  <dcterms:modified xsi:type="dcterms:W3CDTF">2026-05-22T19:14:47Z</dcterms:modified>
</cp:coreProperties>
</file>